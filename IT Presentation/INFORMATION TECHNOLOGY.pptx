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sldIdLst>
    <p:sldId id="256" r:id="rId3"/>
    <p:sldId id="257" r:id="rId4"/>
    <p:sldId id="305" r:id="rId5"/>
    <p:sldId id="258" r:id="rId6"/>
    <p:sldId id="259" r:id="rId7"/>
    <p:sldId id="260" r:id="rId8"/>
    <p:sldId id="261" r:id="rId9"/>
    <p:sldId id="262" r:id="rId10"/>
    <p:sldId id="263" r:id="rId11"/>
    <p:sldId id="264" r:id="rId12"/>
    <p:sldId id="265" r:id="rId13"/>
    <p:sldId id="266" r:id="rId14"/>
    <p:sldId id="267" r:id="rId15"/>
    <p:sldId id="306" r:id="rId16"/>
    <p:sldId id="268" r:id="rId17"/>
    <p:sldId id="269" r:id="rId18"/>
    <p:sldId id="270" r:id="rId19"/>
    <p:sldId id="307"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1" r:id="rId40"/>
    <p:sldId id="308" r:id="rId41"/>
    <p:sldId id="293" r:id="rId42"/>
    <p:sldId id="294" r:id="rId43"/>
    <p:sldId id="295" r:id="rId44"/>
    <p:sldId id="296" r:id="rId45"/>
    <p:sldId id="297" r:id="rId46"/>
    <p:sldId id="298" r:id="rId47"/>
    <p:sldId id="299" r:id="rId48"/>
    <p:sldId id="309" r:id="rId49"/>
    <p:sldId id="310" r:id="rId50"/>
    <p:sldId id="311" r:id="rId51"/>
    <p:sldId id="312" r:id="rId52"/>
    <p:sldId id="315" r:id="rId53"/>
    <p:sldId id="316" r:id="rId54"/>
    <p:sldId id="317" r:id="rId55"/>
    <p:sldId id="318" r:id="rId56"/>
    <p:sldId id="319" r:id="rId57"/>
    <p:sldId id="313" r:id="rId58"/>
    <p:sldId id="320" r:id="rId59"/>
    <p:sldId id="314" r:id="rId60"/>
    <p:sldId id="302" r:id="rId61"/>
    <p:sldId id="323" r:id="rId62"/>
    <p:sldId id="324" r:id="rId63"/>
    <p:sldId id="325" r:id="rId64"/>
    <p:sldId id="326" r:id="rId65"/>
    <p:sldId id="327" r:id="rId66"/>
    <p:sldId id="330" r:id="rId67"/>
    <p:sldId id="328" r:id="rId68"/>
    <p:sldId id="329"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6" r:id="rId83"/>
    <p:sldId id="347" r:id="rId84"/>
    <p:sldId id="348" r:id="rId85"/>
    <p:sldId id="350" r:id="rId86"/>
    <p:sldId id="349"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8" autoAdjust="0"/>
    <p:restoredTop sz="94660"/>
  </p:normalViewPr>
  <p:slideViewPr>
    <p:cSldViewPr snapToGrid="0">
      <p:cViewPr varScale="1">
        <p:scale>
          <a:sx n="75" d="100"/>
          <a:sy n="75" d="100"/>
        </p:scale>
        <p:origin x="67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heme" Target="theme/theme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94FF1B23-8AE2-4616-BCDE-3EEAF31639A8}"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443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1566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5934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94F00C-F4AE-438D-A141-004B86CCA183}"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FF1B23-8AE2-4616-BCDE-3EEAF31639A8}"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80487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94F00C-F4AE-438D-A141-004B86CCA183}"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FF1B23-8AE2-4616-BCDE-3EEAF31639A8}"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872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94F00C-F4AE-438D-A141-004B86CCA183}"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FF1B23-8AE2-4616-BCDE-3EEAF31639A8}"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513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94F00C-F4AE-438D-A141-004B86CCA183}"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885513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94F00C-F4AE-438D-A141-004B86CCA183}"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FF1B23-8AE2-4616-BCDE-3EEAF31639A8}"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8795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D94F00C-F4AE-438D-A141-004B86CCA183}" type="datetimeFigureOut">
              <a:rPr lang="en-IN" smtClean="0"/>
              <a:t>20-02-2026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94FF1B23-8AE2-4616-BCDE-3EEAF31639A8}"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8783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0350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5429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4076734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2411935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4176189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94F00C-F4AE-438D-A141-004B86CCA183}"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194992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94F00C-F4AE-438D-A141-004B86CCA183}"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41602798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172514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31258159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4057333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94F00C-F4AE-438D-A141-004B86CCA183}"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31061099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94F00C-F4AE-438D-A141-004B86CCA183}"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617814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21277307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86792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24373797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174129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1231083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674305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4F00C-F4AE-438D-A141-004B86CCA183}"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FF1B23-8AE2-4616-BCDE-3EEAF31639A8}" type="slidenum">
              <a:rPr lang="en-IN" smtClean="0"/>
              <a:t>‹#›</a:t>
            </a:fld>
            <a:endParaRPr lang="en-IN"/>
          </a:p>
        </p:txBody>
      </p:sp>
    </p:spTree>
    <p:extLst>
      <p:ext uri="{BB962C8B-B14F-4D97-AF65-F5344CB8AC3E}">
        <p14:creationId xmlns:p14="http://schemas.microsoft.com/office/powerpoint/2010/main" val="287903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image" Target="../media/image5.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D94F00C-F4AE-438D-A141-004B86CCA183}" type="datetimeFigureOut">
              <a:rPr lang="en-IN" smtClean="0"/>
              <a:t>20-02-2026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4FF1B23-8AE2-4616-BCDE-3EEAF31639A8}"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2214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D94F00C-F4AE-438D-A141-004B86CCA183}" type="datetimeFigureOut">
              <a:rPr lang="en-IN" smtClean="0"/>
              <a:t>20-02-2026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4FF1B23-8AE2-4616-BCDE-3EEAF31639A8}" type="slidenum">
              <a:rPr lang="en-IN" smtClean="0"/>
              <a:t>‹#›</a:t>
            </a:fld>
            <a:endParaRPr lang="en-IN"/>
          </a:p>
        </p:txBody>
      </p:sp>
    </p:spTree>
    <p:extLst>
      <p:ext uri="{BB962C8B-B14F-4D97-AF65-F5344CB8AC3E}">
        <p14:creationId xmlns:p14="http://schemas.microsoft.com/office/powerpoint/2010/main" val="239055373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hyperlink" Target="https://learn.anudip.org/mod/url/view.php?id=15720" TargetMode="Externa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hyperlink" Target="https://itwiki.kr/w/DIKW_%ED%94%BC%EB%9D%BC%EB%AF%B8%EB%93%9C" TargetMode="External"/><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DF3F4-FB34-B947-0678-2090C46DF148}"/>
              </a:ext>
            </a:extLst>
          </p:cNvPr>
          <p:cNvSpPr>
            <a:spLocks noGrp="1"/>
          </p:cNvSpPr>
          <p:nvPr>
            <p:ph type="ctrTitle"/>
          </p:nvPr>
        </p:nvSpPr>
        <p:spPr/>
        <p:txBody>
          <a:bodyPr>
            <a:normAutofit/>
          </a:bodyPr>
          <a:lstStyle/>
          <a:p>
            <a:r>
              <a:rPr lang="en-US" sz="5400" b="1" dirty="0">
                <a:latin typeface="+mn-lt"/>
              </a:rPr>
              <a:t>INFORMATION TECHNOLOGY</a:t>
            </a:r>
            <a:endParaRPr lang="en-IN" sz="5400" b="1" dirty="0">
              <a:latin typeface="+mn-lt"/>
            </a:endParaRPr>
          </a:p>
        </p:txBody>
      </p:sp>
      <p:sp>
        <p:nvSpPr>
          <p:cNvPr id="3" name="Subtitle 2">
            <a:extLst>
              <a:ext uri="{FF2B5EF4-FFF2-40B4-BE49-F238E27FC236}">
                <a16:creationId xmlns:a16="http://schemas.microsoft.com/office/drawing/2014/main" id="{120768B8-0A4D-5E84-73D0-22BA92EDDD43}"/>
              </a:ext>
            </a:extLst>
          </p:cNvPr>
          <p:cNvSpPr>
            <a:spLocks noGrp="1"/>
          </p:cNvSpPr>
          <p:nvPr>
            <p:ph type="subTitle" idx="1"/>
          </p:nvPr>
        </p:nvSpPr>
        <p:spPr>
          <a:xfrm>
            <a:off x="1016000" y="4216400"/>
            <a:ext cx="9418320" cy="792480"/>
          </a:xfrm>
        </p:spPr>
        <p:txBody>
          <a:bodyPr>
            <a:normAutofit/>
          </a:bodyPr>
          <a:lstStyle/>
          <a:p>
            <a:pPr algn="just"/>
            <a:r>
              <a:rPr lang="en-US" sz="2000" b="1" dirty="0"/>
              <a:t>DEBKANTA NANDI</a:t>
            </a:r>
            <a:endParaRPr lang="en-IN" sz="2000" b="1" dirty="0"/>
          </a:p>
        </p:txBody>
      </p:sp>
    </p:spTree>
    <p:extLst>
      <p:ext uri="{BB962C8B-B14F-4D97-AF65-F5344CB8AC3E}">
        <p14:creationId xmlns:p14="http://schemas.microsoft.com/office/powerpoint/2010/main" val="116065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DEB2-F2D5-DE22-7563-9E7ECB6A16F6}"/>
              </a:ext>
            </a:extLst>
          </p:cNvPr>
          <p:cNvSpPr>
            <a:spLocks noGrp="1"/>
          </p:cNvSpPr>
          <p:nvPr>
            <p:ph type="title"/>
          </p:nvPr>
        </p:nvSpPr>
        <p:spPr/>
        <p:txBody>
          <a:bodyPr>
            <a:normAutofit/>
          </a:bodyPr>
          <a:lstStyle/>
          <a:p>
            <a:r>
              <a:rPr lang="en-US" sz="4000" b="1" dirty="0">
                <a:latin typeface="+mn-lt"/>
              </a:rPr>
              <a:t>            Our Contents</a:t>
            </a:r>
            <a:endParaRPr lang="en-IN" sz="4000" b="1" dirty="0">
              <a:latin typeface="+mn-lt"/>
            </a:endParaRPr>
          </a:p>
        </p:txBody>
      </p:sp>
      <p:sp>
        <p:nvSpPr>
          <p:cNvPr id="3" name="Content Placeholder 2">
            <a:extLst>
              <a:ext uri="{FF2B5EF4-FFF2-40B4-BE49-F238E27FC236}">
                <a16:creationId xmlns:a16="http://schemas.microsoft.com/office/drawing/2014/main" id="{0731FAE5-E8BB-D35F-5793-DEE372A34408}"/>
              </a:ext>
            </a:extLst>
          </p:cNvPr>
          <p:cNvSpPr>
            <a:spLocks noGrp="1"/>
          </p:cNvSpPr>
          <p:nvPr>
            <p:ph idx="1"/>
          </p:nvPr>
        </p:nvSpPr>
        <p:spPr/>
        <p:txBody>
          <a:bodyPr/>
          <a:lstStyle/>
          <a:p>
            <a:pPr marL="514350" indent="-514350">
              <a:buFont typeface="+mj-lt"/>
              <a:buAutoNum type="arabicPeriod"/>
            </a:pPr>
            <a:r>
              <a:rPr lang="en-US" b="1" dirty="0"/>
              <a:t>Introduction of Information Technology and Business systems.</a:t>
            </a:r>
          </a:p>
          <a:p>
            <a:pPr marL="514350" indent="-514350">
              <a:buFont typeface="+mj-lt"/>
              <a:buAutoNum type="arabicPeriod"/>
            </a:pPr>
            <a:r>
              <a:rPr lang="en-US" b="1" dirty="0"/>
              <a:t>Data </a:t>
            </a:r>
            <a:r>
              <a:rPr lang="en-US" b="1" dirty="0" err="1"/>
              <a:t>Types,Sources,and</a:t>
            </a:r>
            <a:r>
              <a:rPr lang="en-US" b="1" dirty="0"/>
              <a:t> Lifecycle.</a:t>
            </a:r>
          </a:p>
          <a:p>
            <a:pPr marL="514350" indent="-514350">
              <a:buFont typeface="+mj-lt"/>
              <a:buAutoNum type="arabicPeriod"/>
            </a:pPr>
            <a:r>
              <a:rPr lang="en-US" b="1" dirty="0"/>
              <a:t>Introduction to Business Analyst Role.</a:t>
            </a:r>
          </a:p>
          <a:p>
            <a:pPr marL="514350" indent="-514350">
              <a:buFont typeface="+mj-lt"/>
              <a:buAutoNum type="arabicPeriod"/>
            </a:pPr>
            <a:r>
              <a:rPr lang="en-US" b="1" dirty="0"/>
              <a:t>Data vs. Information.</a:t>
            </a:r>
          </a:p>
          <a:p>
            <a:pPr marL="514350" indent="-514350">
              <a:buFont typeface="+mj-lt"/>
              <a:buAutoNum type="arabicPeriod"/>
            </a:pPr>
            <a:r>
              <a:rPr lang="en-US" b="1" dirty="0"/>
              <a:t>Overview of Data Driven Decision Making.</a:t>
            </a:r>
          </a:p>
          <a:p>
            <a:pPr marL="514350" indent="-514350">
              <a:buFont typeface="+mj-lt"/>
              <a:buAutoNum type="arabicPeriod"/>
            </a:pPr>
            <a:r>
              <a:rPr lang="en-US" b="1" dirty="0"/>
              <a:t>Case Discussions / Real-Life Examples.</a:t>
            </a:r>
          </a:p>
          <a:p>
            <a:pPr marL="514350" indent="-514350">
              <a:buFont typeface="+mj-lt"/>
              <a:buAutoNum type="arabicPeriod"/>
            </a:pPr>
            <a:r>
              <a:rPr lang="en-US" b="1" dirty="0"/>
              <a:t>Introduction to Data Governance &amp; Data Ethics.</a:t>
            </a:r>
            <a:endParaRPr lang="en-IN" b="1" dirty="0"/>
          </a:p>
        </p:txBody>
      </p:sp>
    </p:spTree>
    <p:extLst>
      <p:ext uri="{BB962C8B-B14F-4D97-AF65-F5344CB8AC3E}">
        <p14:creationId xmlns:p14="http://schemas.microsoft.com/office/powerpoint/2010/main" val="1807418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1A2C-1A9D-4A0E-4A67-B372E5A039BE}"/>
              </a:ext>
            </a:extLst>
          </p:cNvPr>
          <p:cNvSpPr>
            <a:spLocks noGrp="1"/>
          </p:cNvSpPr>
          <p:nvPr>
            <p:ph type="title"/>
          </p:nvPr>
        </p:nvSpPr>
        <p:spPr>
          <a:xfrm>
            <a:off x="645160" y="2244725"/>
            <a:ext cx="10515600" cy="1325563"/>
          </a:xfrm>
        </p:spPr>
        <p:txBody>
          <a:bodyPr>
            <a:normAutofit/>
          </a:bodyPr>
          <a:lstStyle/>
          <a:p>
            <a:r>
              <a:rPr lang="en-US" sz="4000" b="1" dirty="0">
                <a:latin typeface="+mn-lt"/>
              </a:rPr>
              <a:t>1. Introduction to Information Technology and Business systems.</a:t>
            </a:r>
            <a:endParaRPr lang="en-IN" sz="4000" b="1" dirty="0">
              <a:latin typeface="+mn-lt"/>
            </a:endParaRPr>
          </a:p>
        </p:txBody>
      </p:sp>
    </p:spTree>
    <p:extLst>
      <p:ext uri="{BB962C8B-B14F-4D97-AF65-F5344CB8AC3E}">
        <p14:creationId xmlns:p14="http://schemas.microsoft.com/office/powerpoint/2010/main" val="174717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D59E-3292-8A51-9E29-0BC29BC07674}"/>
              </a:ext>
            </a:extLst>
          </p:cNvPr>
          <p:cNvSpPr>
            <a:spLocks noGrp="1"/>
          </p:cNvSpPr>
          <p:nvPr>
            <p:ph type="title"/>
          </p:nvPr>
        </p:nvSpPr>
        <p:spPr/>
        <p:txBody>
          <a:bodyPr>
            <a:normAutofit/>
          </a:bodyPr>
          <a:lstStyle/>
          <a:p>
            <a:r>
              <a:rPr lang="en-IN" sz="4000" b="1" dirty="0">
                <a:latin typeface="+mn-lt"/>
              </a:rPr>
              <a:t>1.1 Fundamentals of Information Technology</a:t>
            </a:r>
            <a:endParaRPr lang="en-IN" sz="4000" dirty="0">
              <a:latin typeface="+mn-lt"/>
            </a:endParaRPr>
          </a:p>
        </p:txBody>
      </p:sp>
      <p:sp>
        <p:nvSpPr>
          <p:cNvPr id="3" name="Content Placeholder 2">
            <a:extLst>
              <a:ext uri="{FF2B5EF4-FFF2-40B4-BE49-F238E27FC236}">
                <a16:creationId xmlns:a16="http://schemas.microsoft.com/office/drawing/2014/main" id="{A9AFD205-3473-1E0A-F105-714992F993CC}"/>
              </a:ext>
            </a:extLst>
          </p:cNvPr>
          <p:cNvSpPr>
            <a:spLocks noGrp="1"/>
          </p:cNvSpPr>
          <p:nvPr>
            <p:ph idx="1"/>
          </p:nvPr>
        </p:nvSpPr>
        <p:spPr/>
        <p:txBody>
          <a:bodyPr/>
          <a:lstStyle/>
          <a:p>
            <a:r>
              <a:rPr lang="en-US" b="1" dirty="0"/>
              <a:t>Information Technology (IT)</a:t>
            </a:r>
            <a:r>
              <a:rPr lang="en-US" dirty="0"/>
              <a:t> refers to the use of computers, software, networks, and other digital systems to </a:t>
            </a:r>
            <a:r>
              <a:rPr lang="en-US" b="1" dirty="0"/>
              <a:t>store, process, transmit, and manage information</a:t>
            </a:r>
            <a:r>
              <a:rPr lang="en-US" dirty="0"/>
              <a:t>.</a:t>
            </a:r>
          </a:p>
          <a:p>
            <a:r>
              <a:rPr lang="en-US" b="1" dirty="0"/>
              <a:t>Simple Definition</a:t>
            </a:r>
          </a:p>
          <a:p>
            <a:r>
              <a:rPr lang="en-US" dirty="0"/>
              <a:t>Information Technology is the technology used to </a:t>
            </a:r>
            <a:r>
              <a:rPr lang="en-US" b="1" dirty="0"/>
              <a:t>handle data and information electronically</a:t>
            </a:r>
            <a:r>
              <a:rPr lang="en-US" dirty="0"/>
              <a:t>.</a:t>
            </a:r>
          </a:p>
          <a:p>
            <a:pPr defTabSz="720000"/>
            <a:r>
              <a:rPr lang="en-US" b="1" dirty="0"/>
              <a:t>In short:</a:t>
            </a:r>
            <a:br>
              <a:rPr lang="en-US" dirty="0"/>
            </a:br>
            <a:r>
              <a:rPr lang="en-US" dirty="0"/>
              <a:t>Information Technology helps people and organizations work faster, store information safely, and communicate easily using digital tools.</a:t>
            </a:r>
            <a:endParaRPr lang="en-IN" dirty="0"/>
          </a:p>
        </p:txBody>
      </p:sp>
    </p:spTree>
    <p:extLst>
      <p:ext uri="{BB962C8B-B14F-4D97-AF65-F5344CB8AC3E}">
        <p14:creationId xmlns:p14="http://schemas.microsoft.com/office/powerpoint/2010/main" val="282586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3BBC8-A679-A598-DCEB-DBD3019A55D8}"/>
              </a:ext>
            </a:extLst>
          </p:cNvPr>
          <p:cNvSpPr>
            <a:spLocks noGrp="1"/>
          </p:cNvSpPr>
          <p:nvPr>
            <p:ph type="title"/>
          </p:nvPr>
        </p:nvSpPr>
        <p:spPr>
          <a:xfrm>
            <a:off x="980440" y="314325"/>
            <a:ext cx="10515600" cy="1325563"/>
          </a:xfrm>
        </p:spPr>
        <p:txBody>
          <a:bodyPr>
            <a:normAutofit/>
          </a:bodyPr>
          <a:lstStyle/>
          <a:p>
            <a:r>
              <a:rPr lang="en-US" sz="4000" b="1" dirty="0">
                <a:latin typeface="+mn-lt"/>
              </a:rPr>
              <a:t>Simple difference between IT between computer.</a:t>
            </a:r>
            <a:endParaRPr lang="en-IN" sz="4000" b="1" dirty="0">
              <a:latin typeface="+mn-lt"/>
            </a:endParaRPr>
          </a:p>
        </p:txBody>
      </p:sp>
      <p:sp>
        <p:nvSpPr>
          <p:cNvPr id="3" name="Content Placeholder 2">
            <a:extLst>
              <a:ext uri="{FF2B5EF4-FFF2-40B4-BE49-F238E27FC236}">
                <a16:creationId xmlns:a16="http://schemas.microsoft.com/office/drawing/2014/main" id="{E3B55333-7E6A-4F83-45F1-5FDD8221C670}"/>
              </a:ext>
            </a:extLst>
          </p:cNvPr>
          <p:cNvSpPr>
            <a:spLocks noGrp="1"/>
          </p:cNvSpPr>
          <p:nvPr>
            <p:ph idx="1"/>
          </p:nvPr>
        </p:nvSpPr>
        <p:spPr/>
        <p:txBody>
          <a:bodyPr/>
          <a:lstStyle/>
          <a:p>
            <a:r>
              <a:rPr lang="en-US" b="1" dirty="0"/>
              <a:t>Simple Difference</a:t>
            </a:r>
          </a:p>
          <a:p>
            <a:r>
              <a:rPr lang="en-US" b="1" dirty="0"/>
              <a:t>IT = Using and managing technology</a:t>
            </a:r>
            <a:endParaRPr lang="en-US" dirty="0"/>
          </a:p>
          <a:p>
            <a:r>
              <a:rPr lang="en-US" b="1" dirty="0"/>
              <a:t>CS = Creating and improving technology</a:t>
            </a:r>
            <a:endParaRPr lang="en-US" dirty="0"/>
          </a:p>
          <a:p>
            <a:r>
              <a:rPr lang="en-US" b="1" dirty="0"/>
              <a:t>Example</a:t>
            </a:r>
          </a:p>
          <a:p>
            <a:r>
              <a:rPr lang="en-US" dirty="0"/>
              <a:t>If you </a:t>
            </a:r>
            <a:r>
              <a:rPr lang="en-US" b="1" dirty="0"/>
              <a:t>develop a mobile app</a:t>
            </a:r>
            <a:r>
              <a:rPr lang="en-US" dirty="0"/>
              <a:t> → Computer Science</a:t>
            </a:r>
          </a:p>
          <a:p>
            <a:r>
              <a:rPr lang="en-US" dirty="0"/>
              <a:t>If you </a:t>
            </a:r>
            <a:r>
              <a:rPr lang="en-US" b="1" dirty="0"/>
              <a:t>install, maintain, and secure the app on company systems</a:t>
            </a:r>
            <a:r>
              <a:rPr lang="en-US" dirty="0"/>
              <a:t> → Information Technology</a:t>
            </a:r>
          </a:p>
          <a:p>
            <a:pPr marL="0" indent="0">
              <a:buNone/>
            </a:pPr>
            <a:endParaRPr lang="en-IN" dirty="0"/>
          </a:p>
        </p:txBody>
      </p:sp>
    </p:spTree>
    <p:extLst>
      <p:ext uri="{BB962C8B-B14F-4D97-AF65-F5344CB8AC3E}">
        <p14:creationId xmlns:p14="http://schemas.microsoft.com/office/powerpoint/2010/main" val="2668371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4764-6306-7992-C0B0-0123C163289A}"/>
              </a:ext>
            </a:extLst>
          </p:cNvPr>
          <p:cNvSpPr>
            <a:spLocks noGrp="1"/>
          </p:cNvSpPr>
          <p:nvPr>
            <p:ph type="title"/>
          </p:nvPr>
        </p:nvSpPr>
        <p:spPr/>
        <p:txBody>
          <a:bodyPr>
            <a:normAutofit/>
          </a:bodyPr>
          <a:lstStyle/>
          <a:p>
            <a:r>
              <a:rPr lang="en-IN" sz="4000" b="1" dirty="0">
                <a:latin typeface="+mn-lt"/>
              </a:rPr>
              <a:t>Components of Information Technology.</a:t>
            </a:r>
          </a:p>
        </p:txBody>
      </p:sp>
      <p:sp>
        <p:nvSpPr>
          <p:cNvPr id="3" name="Content Placeholder 2">
            <a:extLst>
              <a:ext uri="{FF2B5EF4-FFF2-40B4-BE49-F238E27FC236}">
                <a16:creationId xmlns:a16="http://schemas.microsoft.com/office/drawing/2014/main" id="{CD7FBE9D-EC24-72F9-DF93-BA913EC0F236}"/>
              </a:ext>
            </a:extLst>
          </p:cNvPr>
          <p:cNvSpPr>
            <a:spLocks noGrp="1"/>
          </p:cNvSpPr>
          <p:nvPr>
            <p:ph idx="1"/>
          </p:nvPr>
        </p:nvSpPr>
        <p:spPr/>
        <p:txBody>
          <a:bodyPr/>
          <a:lstStyle/>
          <a:p>
            <a:r>
              <a:rPr lang="en-US" b="1" dirty="0"/>
              <a:t>Main Components of IT</a:t>
            </a:r>
            <a:endParaRPr lang="en-US" dirty="0"/>
          </a:p>
          <a:p>
            <a:r>
              <a:rPr lang="en-US" b="1" dirty="0"/>
              <a:t>Hardware</a:t>
            </a:r>
            <a:r>
              <a:rPr lang="en-US" dirty="0"/>
              <a:t>: Physical devices such as computers, keyboards, printers, servers, and routers.</a:t>
            </a:r>
          </a:p>
          <a:p>
            <a:r>
              <a:rPr lang="en-US" b="1" dirty="0"/>
              <a:t>Software</a:t>
            </a:r>
            <a:r>
              <a:rPr lang="en-US" dirty="0"/>
              <a:t>: Programs and applications like operating systems, MS Office, web browsers, and mobile apps.</a:t>
            </a:r>
          </a:p>
          <a:p>
            <a:r>
              <a:rPr lang="en-US" b="1" dirty="0"/>
              <a:t>Networking</a:t>
            </a:r>
            <a:r>
              <a:rPr lang="en-US" dirty="0"/>
              <a:t>: Connecting devices to share data using LAN, WAN, Wi-Fi, and the Internet.</a:t>
            </a:r>
          </a:p>
          <a:p>
            <a:r>
              <a:rPr lang="en-US" b="1" dirty="0"/>
              <a:t>Data</a:t>
            </a:r>
            <a:r>
              <a:rPr lang="en-US" dirty="0"/>
              <a:t>: Raw facts and information stored and processed by computer systems.</a:t>
            </a:r>
          </a:p>
          <a:p>
            <a:endParaRPr lang="en-IN" dirty="0"/>
          </a:p>
        </p:txBody>
      </p:sp>
    </p:spTree>
    <p:extLst>
      <p:ext uri="{BB962C8B-B14F-4D97-AF65-F5344CB8AC3E}">
        <p14:creationId xmlns:p14="http://schemas.microsoft.com/office/powerpoint/2010/main" val="2115720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5353-2391-3768-3C56-3C17E21BBF8F}"/>
              </a:ext>
            </a:extLst>
          </p:cNvPr>
          <p:cNvSpPr>
            <a:spLocks noGrp="1"/>
          </p:cNvSpPr>
          <p:nvPr>
            <p:ph type="title"/>
          </p:nvPr>
        </p:nvSpPr>
        <p:spPr/>
        <p:txBody>
          <a:bodyPr>
            <a:normAutofit/>
          </a:bodyPr>
          <a:lstStyle/>
          <a:p>
            <a:r>
              <a:rPr lang="en-IN" sz="4000" b="1" dirty="0">
                <a:latin typeface="+mn-lt"/>
              </a:rPr>
              <a:t>Types of Software</a:t>
            </a:r>
          </a:p>
        </p:txBody>
      </p:sp>
      <p:sp>
        <p:nvSpPr>
          <p:cNvPr id="3" name="Content Placeholder 2">
            <a:extLst>
              <a:ext uri="{FF2B5EF4-FFF2-40B4-BE49-F238E27FC236}">
                <a16:creationId xmlns:a16="http://schemas.microsoft.com/office/drawing/2014/main" id="{D53DBA6E-571D-C258-2A07-14A4AA21EE0A}"/>
              </a:ext>
            </a:extLst>
          </p:cNvPr>
          <p:cNvSpPr>
            <a:spLocks noGrp="1"/>
          </p:cNvSpPr>
          <p:nvPr>
            <p:ph idx="1"/>
          </p:nvPr>
        </p:nvSpPr>
        <p:spPr/>
        <p:txBody>
          <a:bodyPr>
            <a:normAutofit lnSpcReduction="10000"/>
          </a:bodyPr>
          <a:lstStyle/>
          <a:p>
            <a:r>
              <a:rPr lang="en-IN" b="1" dirty="0"/>
              <a:t>System Software and Application Software</a:t>
            </a:r>
            <a:endParaRPr lang="en-IN" dirty="0"/>
          </a:p>
          <a:p>
            <a:r>
              <a:rPr lang="en-IN" b="1" dirty="0"/>
              <a:t>System Software</a:t>
            </a:r>
            <a:endParaRPr lang="en-IN" dirty="0"/>
          </a:p>
          <a:p>
            <a:pPr lvl="1"/>
            <a:r>
              <a:rPr lang="en-IN" dirty="0"/>
              <a:t>Controls and manages computer hardware.</a:t>
            </a:r>
          </a:p>
          <a:p>
            <a:pPr lvl="1"/>
            <a:r>
              <a:rPr lang="en-IN" dirty="0"/>
              <a:t>Examples: Windows, Linux, macOS.</a:t>
            </a:r>
          </a:p>
          <a:p>
            <a:r>
              <a:rPr lang="en-IN" b="1" dirty="0"/>
              <a:t>Application Software</a:t>
            </a:r>
            <a:endParaRPr lang="en-IN" dirty="0"/>
          </a:p>
          <a:p>
            <a:pPr lvl="1"/>
            <a:r>
              <a:rPr lang="en-IN" dirty="0"/>
              <a:t>Helps users perform specific tasks.</a:t>
            </a:r>
          </a:p>
          <a:p>
            <a:pPr lvl="1"/>
            <a:r>
              <a:rPr lang="en-IN" dirty="0"/>
              <a:t>Examples: MS Word, Excel, PowerPoint, web browsers, accounting software.</a:t>
            </a:r>
          </a:p>
          <a:p>
            <a:r>
              <a:rPr lang="en-IN" b="1" dirty="0"/>
              <a:t>Utility Software</a:t>
            </a:r>
            <a:endParaRPr lang="en-IN" dirty="0"/>
          </a:p>
          <a:p>
            <a:pPr lvl="1"/>
            <a:r>
              <a:rPr lang="en-IN" dirty="0"/>
              <a:t>Maintains system performance.</a:t>
            </a:r>
          </a:p>
          <a:p>
            <a:pPr lvl="1"/>
            <a:r>
              <a:rPr lang="en-IN" dirty="0"/>
              <a:t>Examples: Antivirus, disk cleanup tools.</a:t>
            </a:r>
          </a:p>
          <a:p>
            <a:endParaRPr lang="en-IN" dirty="0"/>
          </a:p>
        </p:txBody>
      </p:sp>
    </p:spTree>
    <p:extLst>
      <p:ext uri="{BB962C8B-B14F-4D97-AF65-F5344CB8AC3E}">
        <p14:creationId xmlns:p14="http://schemas.microsoft.com/office/powerpoint/2010/main" val="964806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71A6-3635-D8DE-545F-3B38E131A5B4}"/>
              </a:ext>
            </a:extLst>
          </p:cNvPr>
          <p:cNvSpPr>
            <a:spLocks noGrp="1"/>
          </p:cNvSpPr>
          <p:nvPr>
            <p:ph type="title"/>
          </p:nvPr>
        </p:nvSpPr>
        <p:spPr/>
        <p:txBody>
          <a:bodyPr>
            <a:normAutofit/>
          </a:bodyPr>
          <a:lstStyle/>
          <a:p>
            <a:r>
              <a:rPr lang="en-IN" sz="4000" b="1" dirty="0">
                <a:latin typeface="+mn-lt"/>
              </a:rPr>
              <a:t>Networking and Internet</a:t>
            </a:r>
          </a:p>
        </p:txBody>
      </p:sp>
      <p:sp>
        <p:nvSpPr>
          <p:cNvPr id="3" name="Content Placeholder 2">
            <a:extLst>
              <a:ext uri="{FF2B5EF4-FFF2-40B4-BE49-F238E27FC236}">
                <a16:creationId xmlns:a16="http://schemas.microsoft.com/office/drawing/2014/main" id="{61CD2C0F-99F6-0240-67D7-4FCD16CDA7C9}"/>
              </a:ext>
            </a:extLst>
          </p:cNvPr>
          <p:cNvSpPr>
            <a:spLocks noGrp="1"/>
          </p:cNvSpPr>
          <p:nvPr>
            <p:ph idx="1"/>
          </p:nvPr>
        </p:nvSpPr>
        <p:spPr/>
        <p:txBody>
          <a:bodyPr/>
          <a:lstStyle/>
          <a:p>
            <a:r>
              <a:rPr lang="en-US" b="1" dirty="0"/>
              <a:t>Role of Networking in IT</a:t>
            </a:r>
            <a:endParaRPr lang="en-US" dirty="0"/>
          </a:p>
          <a:p>
            <a:r>
              <a:rPr lang="en-US" dirty="0"/>
              <a:t>Networking allows computers to communicate and share resources.</a:t>
            </a:r>
          </a:p>
          <a:p>
            <a:r>
              <a:rPr lang="en-US" dirty="0"/>
              <a:t>Types of networks:</a:t>
            </a:r>
          </a:p>
          <a:p>
            <a:pPr lvl="1"/>
            <a:r>
              <a:rPr lang="en-US" b="1" dirty="0"/>
              <a:t>LAN</a:t>
            </a:r>
            <a:r>
              <a:rPr lang="en-US" dirty="0"/>
              <a:t> (Local Area Network)</a:t>
            </a:r>
          </a:p>
          <a:p>
            <a:pPr lvl="1"/>
            <a:r>
              <a:rPr lang="en-US" b="1" dirty="0"/>
              <a:t>WAN</a:t>
            </a:r>
            <a:r>
              <a:rPr lang="en-US" dirty="0"/>
              <a:t> (Wide Area Network)</a:t>
            </a:r>
          </a:p>
          <a:p>
            <a:r>
              <a:rPr lang="en-US" dirty="0"/>
              <a:t>The Internet is a global network connecting millions of devices.</a:t>
            </a:r>
          </a:p>
          <a:p>
            <a:r>
              <a:rPr lang="en-US" dirty="0"/>
              <a:t>Common Internet services: Email, websites, cloud computing, video conferencing, and online learning.</a:t>
            </a:r>
          </a:p>
          <a:p>
            <a:pPr marL="0" indent="0">
              <a:buNone/>
            </a:pPr>
            <a:endParaRPr lang="en-IN" dirty="0"/>
          </a:p>
        </p:txBody>
      </p:sp>
    </p:spTree>
    <p:extLst>
      <p:ext uri="{BB962C8B-B14F-4D97-AF65-F5344CB8AC3E}">
        <p14:creationId xmlns:p14="http://schemas.microsoft.com/office/powerpoint/2010/main" val="178639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C537-757D-A348-49E7-3A3FFD230847}"/>
              </a:ext>
            </a:extLst>
          </p:cNvPr>
          <p:cNvSpPr>
            <a:spLocks noGrp="1"/>
          </p:cNvSpPr>
          <p:nvPr>
            <p:ph type="title"/>
          </p:nvPr>
        </p:nvSpPr>
        <p:spPr/>
        <p:txBody>
          <a:bodyPr>
            <a:normAutofit/>
          </a:bodyPr>
          <a:lstStyle/>
          <a:p>
            <a:r>
              <a:rPr lang="en-US" sz="4000" dirty="0">
                <a:latin typeface="+mn-lt"/>
              </a:rPr>
              <a:t>Importance and Applications of IT</a:t>
            </a:r>
            <a:endParaRPr lang="en-IN" sz="4000" dirty="0">
              <a:latin typeface="+mn-lt"/>
            </a:endParaRPr>
          </a:p>
        </p:txBody>
      </p:sp>
      <p:sp>
        <p:nvSpPr>
          <p:cNvPr id="3" name="Content Placeholder 2">
            <a:extLst>
              <a:ext uri="{FF2B5EF4-FFF2-40B4-BE49-F238E27FC236}">
                <a16:creationId xmlns:a16="http://schemas.microsoft.com/office/drawing/2014/main" id="{1364F57F-5B50-44EA-9DF9-C093F2A152E5}"/>
              </a:ext>
            </a:extLst>
          </p:cNvPr>
          <p:cNvSpPr>
            <a:spLocks noGrp="1"/>
          </p:cNvSpPr>
          <p:nvPr>
            <p:ph idx="1"/>
          </p:nvPr>
        </p:nvSpPr>
        <p:spPr/>
        <p:txBody>
          <a:bodyPr/>
          <a:lstStyle/>
          <a:p>
            <a:r>
              <a:rPr lang="en-US" b="1" dirty="0"/>
              <a:t>Why Information Technology is Important</a:t>
            </a:r>
            <a:endParaRPr lang="en-US" dirty="0"/>
          </a:p>
          <a:p>
            <a:r>
              <a:rPr lang="en-US" dirty="0"/>
              <a:t>Improves communication and collaboration.</a:t>
            </a:r>
          </a:p>
          <a:p>
            <a:r>
              <a:rPr lang="en-US" dirty="0"/>
              <a:t>Increases business efficiency and productivity.</a:t>
            </a:r>
          </a:p>
          <a:p>
            <a:r>
              <a:rPr lang="en-US" dirty="0"/>
              <a:t>Enables digital services like e-commerce and online banking.</a:t>
            </a:r>
          </a:p>
          <a:p>
            <a:r>
              <a:rPr lang="en-US" dirty="0"/>
              <a:t>Supports data storage, analysis, and decision-making.</a:t>
            </a:r>
          </a:p>
          <a:p>
            <a:r>
              <a:rPr lang="en-US" dirty="0"/>
              <a:t>Used in various sectors: Education, healthcare, government, finance, and entertainment.</a:t>
            </a:r>
          </a:p>
          <a:p>
            <a:pPr marL="0" indent="0">
              <a:buNone/>
            </a:pPr>
            <a:endParaRPr lang="en-IN" dirty="0"/>
          </a:p>
        </p:txBody>
      </p:sp>
    </p:spTree>
    <p:extLst>
      <p:ext uri="{BB962C8B-B14F-4D97-AF65-F5344CB8AC3E}">
        <p14:creationId xmlns:p14="http://schemas.microsoft.com/office/powerpoint/2010/main" val="1932407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C82DF-F5A4-955D-4A6C-8607452E60A4}"/>
              </a:ext>
            </a:extLst>
          </p:cNvPr>
          <p:cNvSpPr>
            <a:spLocks noGrp="1"/>
          </p:cNvSpPr>
          <p:nvPr>
            <p:ph type="title"/>
          </p:nvPr>
        </p:nvSpPr>
        <p:spPr/>
        <p:txBody>
          <a:bodyPr>
            <a:normAutofit/>
          </a:bodyPr>
          <a:lstStyle/>
          <a:p>
            <a:r>
              <a:rPr lang="en-US" sz="4000" b="1" dirty="0">
                <a:latin typeface="+mn-lt"/>
              </a:rPr>
              <a:t>1.2 The role of information technology in modern business.</a:t>
            </a:r>
            <a:endParaRPr lang="en-IN" sz="4000" b="1" dirty="0">
              <a:latin typeface="+mn-lt"/>
            </a:endParaRPr>
          </a:p>
        </p:txBody>
      </p:sp>
      <p:sp>
        <p:nvSpPr>
          <p:cNvPr id="3" name="Content Placeholder 2">
            <a:extLst>
              <a:ext uri="{FF2B5EF4-FFF2-40B4-BE49-F238E27FC236}">
                <a16:creationId xmlns:a16="http://schemas.microsoft.com/office/drawing/2014/main" id="{1758A516-ED9E-3168-3ED6-C2E396B2B0C5}"/>
              </a:ext>
            </a:extLst>
          </p:cNvPr>
          <p:cNvSpPr>
            <a:spLocks noGrp="1"/>
          </p:cNvSpPr>
          <p:nvPr>
            <p:ph idx="1"/>
          </p:nvPr>
        </p:nvSpPr>
        <p:spPr/>
        <p:txBody>
          <a:bodyPr>
            <a:normAutofit fontScale="92500" lnSpcReduction="20000"/>
          </a:bodyPr>
          <a:lstStyle/>
          <a:p>
            <a:pPr marL="182563" indent="-182563">
              <a:buNone/>
            </a:pPr>
            <a:r>
              <a:rPr lang="en-US" b="1" dirty="0"/>
              <a:t>  Enhancing Efficiency and Operations for Business Efficiency and       Automation</a:t>
            </a:r>
            <a:endParaRPr lang="en-US" dirty="0"/>
          </a:p>
          <a:p>
            <a:r>
              <a:rPr lang="en-US" dirty="0"/>
              <a:t>Automates routine tasks such as accounting, payroll, inventory, and order processing</a:t>
            </a:r>
          </a:p>
          <a:p>
            <a:r>
              <a:rPr lang="en-US" dirty="0"/>
              <a:t>Improves productivity through business software (ERP, CRM, HRM systems)</a:t>
            </a:r>
          </a:p>
          <a:p>
            <a:r>
              <a:rPr lang="en-US" dirty="0"/>
              <a:t>Enables real-time data collection and analysis for faster decision-making</a:t>
            </a:r>
          </a:p>
          <a:p>
            <a:r>
              <a:rPr lang="en-US" dirty="0"/>
              <a:t>Supports remote work and collaboration using cloud computing, email, and video conferencing</a:t>
            </a:r>
          </a:p>
          <a:p>
            <a:r>
              <a:rPr lang="en-US" dirty="0"/>
              <a:t>Reduces operational costs by minimizing manual work and errors</a:t>
            </a:r>
          </a:p>
          <a:p>
            <a:r>
              <a:rPr lang="en-US" dirty="0"/>
              <a:t>Improves supply chain management through tracking, forecasting, and logistics optimization</a:t>
            </a:r>
          </a:p>
          <a:p>
            <a:endParaRPr lang="en-IN" dirty="0"/>
          </a:p>
        </p:txBody>
      </p:sp>
    </p:spTree>
    <p:extLst>
      <p:ext uri="{BB962C8B-B14F-4D97-AF65-F5344CB8AC3E}">
        <p14:creationId xmlns:p14="http://schemas.microsoft.com/office/powerpoint/2010/main" val="768023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5E3B95-644D-F6C0-85CC-4CBD414779E1}"/>
              </a:ext>
            </a:extLst>
          </p:cNvPr>
          <p:cNvSpPr>
            <a:spLocks noGrp="1"/>
          </p:cNvSpPr>
          <p:nvPr>
            <p:ph idx="1"/>
          </p:nvPr>
        </p:nvSpPr>
        <p:spPr>
          <a:xfrm>
            <a:off x="838200" y="477520"/>
            <a:ext cx="10515600" cy="5699443"/>
          </a:xfrm>
        </p:spPr>
        <p:txBody>
          <a:bodyPr>
            <a:normAutofit/>
          </a:bodyPr>
          <a:lstStyle/>
          <a:p>
            <a:pPr marL="92075" indent="-92075">
              <a:buNone/>
            </a:pPr>
            <a:r>
              <a:rPr lang="en-US" b="1" dirty="0"/>
              <a:t> Driving Growth and Competitive Advantage for Innovation and Customer Engagement</a:t>
            </a:r>
            <a:endParaRPr lang="en-US" dirty="0"/>
          </a:p>
          <a:p>
            <a:r>
              <a:rPr lang="en-US" dirty="0"/>
              <a:t>Enhances customer experience through e-commerce, mobile apps, and online services</a:t>
            </a:r>
          </a:p>
          <a:p>
            <a:r>
              <a:rPr lang="en-US" dirty="0"/>
              <a:t>Enables digital marketing via social media, SEO, and data-driven advertising</a:t>
            </a:r>
          </a:p>
          <a:p>
            <a:r>
              <a:rPr lang="en-US" dirty="0"/>
              <a:t>Provides business insights using data analytics, AI, and business intelligence tools</a:t>
            </a:r>
          </a:p>
          <a:p>
            <a:r>
              <a:rPr lang="en-US" dirty="0"/>
              <a:t>Supports innovation by enabling new products, services, and digital business models</a:t>
            </a:r>
          </a:p>
          <a:p>
            <a:r>
              <a:rPr lang="en-US" dirty="0"/>
              <a:t>Improves communication with customers and partners worldwide</a:t>
            </a:r>
          </a:p>
          <a:p>
            <a:r>
              <a:rPr lang="en-US" dirty="0"/>
              <a:t>Strengthens data security and risk management through cybersecurity solutions.</a:t>
            </a:r>
          </a:p>
          <a:p>
            <a:endParaRPr lang="en-IN" dirty="0"/>
          </a:p>
        </p:txBody>
      </p:sp>
    </p:spTree>
    <p:extLst>
      <p:ext uri="{BB962C8B-B14F-4D97-AF65-F5344CB8AC3E}">
        <p14:creationId xmlns:p14="http://schemas.microsoft.com/office/powerpoint/2010/main" val="1835082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7AB5-DC02-E9D7-CDB2-76EE2AB85BEA}"/>
              </a:ext>
            </a:extLst>
          </p:cNvPr>
          <p:cNvSpPr>
            <a:spLocks noGrp="1"/>
          </p:cNvSpPr>
          <p:nvPr>
            <p:ph type="title"/>
          </p:nvPr>
        </p:nvSpPr>
        <p:spPr/>
        <p:txBody>
          <a:bodyPr>
            <a:normAutofit/>
          </a:bodyPr>
          <a:lstStyle/>
          <a:p>
            <a:r>
              <a:rPr lang="en-IN" sz="4000" b="1" dirty="0">
                <a:latin typeface="+mn-lt"/>
              </a:rPr>
              <a:t>1.3 Overview of Business Systems.</a:t>
            </a:r>
          </a:p>
        </p:txBody>
      </p:sp>
      <p:sp>
        <p:nvSpPr>
          <p:cNvPr id="9" name="Rectangle 5">
            <a:extLst>
              <a:ext uri="{FF2B5EF4-FFF2-40B4-BE49-F238E27FC236}">
                <a16:creationId xmlns:a16="http://schemas.microsoft.com/office/drawing/2014/main" id="{B2564D0C-3D26-FD9E-E57F-5A576EC36E3E}"/>
              </a:ext>
            </a:extLst>
          </p:cNvPr>
          <p:cNvSpPr>
            <a:spLocks noGrp="1" noChangeArrowheads="1"/>
          </p:cNvSpPr>
          <p:nvPr>
            <p:ph idx="1"/>
          </p:nvPr>
        </p:nvSpPr>
        <p:spPr bwMode="auto">
          <a:xfrm>
            <a:off x="340360" y="1516141"/>
            <a:ext cx="10895932"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Business systems are integrated software solutions that support and manage organizational operations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They help automate processes, store data, and improve coordination across departments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Common types of business systems include: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ERP (Enterprise Resource Planning)</a:t>
            </a:r>
            <a:r>
              <a:rPr kumimoji="0" lang="en-US" altLang="en-US" sz="1800" b="0" i="0" u="none" strike="noStrike" cap="none" normalizeH="0" baseline="0" dirty="0">
                <a:ln>
                  <a:noFill/>
                </a:ln>
                <a:solidFill>
                  <a:schemeClr val="tx1"/>
                </a:solidFill>
                <a:effectLst/>
                <a:latin typeface="Arial" panose="020B0604020202020204" pitchFamily="34" charset="0"/>
              </a:rPr>
              <a:t> – manages finance, HR, inventory, procurement, and operations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CRM (Customer Relationship Management)</a:t>
            </a:r>
            <a:r>
              <a:rPr kumimoji="0" lang="en-US" altLang="en-US" sz="1800" b="0" i="0" u="none" strike="noStrike" cap="none" normalizeH="0" baseline="0" dirty="0">
                <a:ln>
                  <a:noFill/>
                </a:ln>
                <a:solidFill>
                  <a:schemeClr val="tx1"/>
                </a:solidFill>
                <a:effectLst/>
                <a:latin typeface="Arial" panose="020B0604020202020204" pitchFamily="34" charset="0"/>
              </a:rPr>
              <a:t> – manages customer data, sales, marketing, and service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SCM (Supply Chain Management)</a:t>
            </a:r>
            <a:r>
              <a:rPr kumimoji="0" lang="en-US" altLang="en-US" sz="1800" b="0" i="0" u="none" strike="noStrike" cap="none" normalizeH="0" baseline="0" dirty="0">
                <a:ln>
                  <a:noFill/>
                </a:ln>
                <a:solidFill>
                  <a:schemeClr val="tx1"/>
                </a:solidFill>
                <a:effectLst/>
                <a:latin typeface="Arial" panose="020B0604020202020204" pitchFamily="34" charset="0"/>
              </a:rPr>
              <a:t> – manages suppliers, production, logistics, and distribution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HRM (Human Resource Management Systems)</a:t>
            </a:r>
            <a:r>
              <a:rPr kumimoji="0" lang="en-US" altLang="en-US" sz="1800" b="0" i="0" u="none" strike="noStrike" cap="none" normalizeH="0" baseline="0" dirty="0">
                <a:ln>
                  <a:noFill/>
                </a:ln>
                <a:solidFill>
                  <a:schemeClr val="tx1"/>
                </a:solidFill>
                <a:effectLst/>
                <a:latin typeface="Arial" panose="020B0604020202020204" pitchFamily="34" charset="0"/>
              </a:rPr>
              <a:t> – handles recruitment, payroll, and employee records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centralized data and real-time information for effective decision-making</a:t>
            </a:r>
          </a:p>
        </p:txBody>
      </p:sp>
    </p:spTree>
    <p:extLst>
      <p:ext uri="{BB962C8B-B14F-4D97-AF65-F5344CB8AC3E}">
        <p14:creationId xmlns:p14="http://schemas.microsoft.com/office/powerpoint/2010/main" val="216075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92280-7F8F-3CE8-16A0-1E7AB001BA6C}"/>
              </a:ext>
            </a:extLst>
          </p:cNvPr>
          <p:cNvSpPr>
            <a:spLocks noGrp="1"/>
          </p:cNvSpPr>
          <p:nvPr>
            <p:ph idx="1"/>
          </p:nvPr>
        </p:nvSpPr>
        <p:spPr>
          <a:xfrm>
            <a:off x="838200" y="1229360"/>
            <a:ext cx="10515600" cy="4947603"/>
          </a:xfrm>
        </p:spPr>
        <p:txBody>
          <a:bodyPr>
            <a:normAutofit/>
          </a:bodyPr>
          <a:lstStyle/>
          <a:p>
            <a:r>
              <a:rPr lang="en-US" b="1" dirty="0"/>
              <a:t>Business Value and Benefits</a:t>
            </a:r>
            <a:endParaRPr lang="en-US" dirty="0"/>
          </a:p>
          <a:p>
            <a:r>
              <a:rPr lang="en-US" dirty="0"/>
              <a:t>Improves operational efficiency through automation and standardized workflows</a:t>
            </a:r>
          </a:p>
          <a:p>
            <a:r>
              <a:rPr lang="en-US" dirty="0"/>
              <a:t>Enhances data accuracy and reduces duplication or manual errors</a:t>
            </a:r>
          </a:p>
          <a:p>
            <a:r>
              <a:rPr lang="en-US" dirty="0"/>
              <a:t>Supports better planning and strategic decision-making using reports and analytics</a:t>
            </a:r>
          </a:p>
          <a:p>
            <a:r>
              <a:rPr lang="en-US" dirty="0"/>
              <a:t>Improves collaboration and information sharing between departments</a:t>
            </a:r>
          </a:p>
          <a:p>
            <a:r>
              <a:rPr lang="en-US" dirty="0"/>
              <a:t>Enhances customer satisfaction through faster service and personalized interactions</a:t>
            </a:r>
          </a:p>
          <a:p>
            <a:r>
              <a:rPr lang="en-US" dirty="0"/>
              <a:t>Helps organizations scale, reduce costs, and maintain a competitive advantage</a:t>
            </a:r>
          </a:p>
          <a:p>
            <a:endParaRPr lang="en-IN" dirty="0"/>
          </a:p>
        </p:txBody>
      </p:sp>
    </p:spTree>
    <p:extLst>
      <p:ext uri="{BB962C8B-B14F-4D97-AF65-F5344CB8AC3E}">
        <p14:creationId xmlns:p14="http://schemas.microsoft.com/office/powerpoint/2010/main" val="1664212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DA8C-FA2E-CC0B-F863-C00D306AC9AC}"/>
              </a:ext>
            </a:extLst>
          </p:cNvPr>
          <p:cNvSpPr>
            <a:spLocks noGrp="1"/>
          </p:cNvSpPr>
          <p:nvPr>
            <p:ph type="title"/>
          </p:nvPr>
        </p:nvSpPr>
        <p:spPr/>
        <p:txBody>
          <a:bodyPr/>
          <a:lstStyle/>
          <a:p>
            <a:r>
              <a:rPr lang="en-IN" b="1" dirty="0"/>
              <a:t>Types of ERP</a:t>
            </a:r>
            <a:endParaRPr lang="en-IN" dirty="0"/>
          </a:p>
        </p:txBody>
      </p:sp>
      <p:pic>
        <p:nvPicPr>
          <p:cNvPr id="4" name="table">
            <a:extLst>
              <a:ext uri="{FF2B5EF4-FFF2-40B4-BE49-F238E27FC236}">
                <a16:creationId xmlns:a16="http://schemas.microsoft.com/office/drawing/2014/main" id="{CC8D127A-7467-88B2-9309-BED61DA24917}"/>
              </a:ext>
            </a:extLst>
          </p:cNvPr>
          <p:cNvPicPr>
            <a:picLocks noGrp="1" noChangeAspect="1"/>
          </p:cNvPicPr>
          <p:nvPr>
            <p:ph idx="1"/>
          </p:nvPr>
        </p:nvPicPr>
        <p:blipFill>
          <a:blip r:embed="rId2"/>
          <a:stretch>
            <a:fillRect/>
          </a:stretch>
        </p:blipFill>
        <p:spPr>
          <a:xfrm>
            <a:off x="838200" y="1610678"/>
            <a:ext cx="9486180" cy="4835525"/>
          </a:xfrm>
          <a:prstGeom prst="rect">
            <a:avLst/>
          </a:prstGeom>
        </p:spPr>
      </p:pic>
    </p:spTree>
    <p:extLst>
      <p:ext uri="{BB962C8B-B14F-4D97-AF65-F5344CB8AC3E}">
        <p14:creationId xmlns:p14="http://schemas.microsoft.com/office/powerpoint/2010/main" val="935635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CFCE-F59E-DA62-207A-92E5E77C376E}"/>
              </a:ext>
            </a:extLst>
          </p:cNvPr>
          <p:cNvSpPr>
            <a:spLocks noGrp="1"/>
          </p:cNvSpPr>
          <p:nvPr>
            <p:ph type="title"/>
          </p:nvPr>
        </p:nvSpPr>
        <p:spPr/>
        <p:txBody>
          <a:bodyPr>
            <a:normAutofit/>
          </a:bodyPr>
          <a:lstStyle/>
          <a:p>
            <a:r>
              <a:rPr lang="en-US" sz="4000" b="1" dirty="0">
                <a:latin typeface="+mn-lt"/>
              </a:rPr>
              <a:t>                                   ERP vs CRM</a:t>
            </a:r>
            <a:endParaRPr lang="en-IN" sz="4000" b="1" dirty="0">
              <a:latin typeface="+mn-lt"/>
            </a:endParaRPr>
          </a:p>
        </p:txBody>
      </p:sp>
      <p:pic>
        <p:nvPicPr>
          <p:cNvPr id="4" name="table">
            <a:extLst>
              <a:ext uri="{FF2B5EF4-FFF2-40B4-BE49-F238E27FC236}">
                <a16:creationId xmlns:a16="http://schemas.microsoft.com/office/drawing/2014/main" id="{CA1986DA-BE38-C4E9-9585-1473E7809005}"/>
              </a:ext>
            </a:extLst>
          </p:cNvPr>
          <p:cNvPicPr>
            <a:picLocks noGrp="1" noChangeAspect="1"/>
          </p:cNvPicPr>
          <p:nvPr>
            <p:ph idx="1"/>
          </p:nvPr>
        </p:nvPicPr>
        <p:blipFill>
          <a:blip r:embed="rId2"/>
          <a:stretch>
            <a:fillRect/>
          </a:stretch>
        </p:blipFill>
        <p:spPr>
          <a:xfrm>
            <a:off x="1273253" y="1591945"/>
            <a:ext cx="9869014" cy="4351338"/>
          </a:xfrm>
          <a:prstGeom prst="rect">
            <a:avLst/>
          </a:prstGeom>
        </p:spPr>
      </p:pic>
    </p:spTree>
    <p:extLst>
      <p:ext uri="{BB962C8B-B14F-4D97-AF65-F5344CB8AC3E}">
        <p14:creationId xmlns:p14="http://schemas.microsoft.com/office/powerpoint/2010/main" val="2240433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table">
            <a:extLst>
              <a:ext uri="{FF2B5EF4-FFF2-40B4-BE49-F238E27FC236}">
                <a16:creationId xmlns:a16="http://schemas.microsoft.com/office/drawing/2014/main" id="{72DBDAC5-8C5C-3EC7-A5E6-8DA03105D443}"/>
              </a:ext>
            </a:extLst>
          </p:cNvPr>
          <p:cNvPicPr>
            <a:picLocks noGrp="1" noChangeAspect="1"/>
          </p:cNvPicPr>
          <p:nvPr>
            <p:ph idx="1"/>
          </p:nvPr>
        </p:nvPicPr>
        <p:blipFill>
          <a:blip r:embed="rId2"/>
          <a:stretch>
            <a:fillRect/>
          </a:stretch>
        </p:blipFill>
        <p:spPr>
          <a:xfrm>
            <a:off x="862130" y="1802081"/>
            <a:ext cx="10467739" cy="3334801"/>
          </a:xfrm>
          <a:prstGeom prst="rect">
            <a:avLst/>
          </a:prstGeom>
        </p:spPr>
      </p:pic>
    </p:spTree>
    <p:extLst>
      <p:ext uri="{BB962C8B-B14F-4D97-AF65-F5344CB8AC3E}">
        <p14:creationId xmlns:p14="http://schemas.microsoft.com/office/powerpoint/2010/main" val="3589622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628F9-1C16-10E6-622A-684AB401D26B}"/>
              </a:ext>
            </a:extLst>
          </p:cNvPr>
          <p:cNvSpPr>
            <a:spLocks noGrp="1"/>
          </p:cNvSpPr>
          <p:nvPr>
            <p:ph type="title"/>
          </p:nvPr>
        </p:nvSpPr>
        <p:spPr/>
        <p:txBody>
          <a:bodyPr>
            <a:normAutofit/>
          </a:bodyPr>
          <a:lstStyle/>
          <a:p>
            <a:r>
              <a:rPr lang="en-US" sz="4000" b="1" dirty="0"/>
              <a:t>1.4 Interplay Between IT and Business Strategy</a:t>
            </a:r>
            <a:endParaRPr lang="en-IN" sz="4000" b="1" dirty="0"/>
          </a:p>
        </p:txBody>
      </p:sp>
      <p:sp>
        <p:nvSpPr>
          <p:cNvPr id="4" name="Rectangle 1">
            <a:extLst>
              <a:ext uri="{FF2B5EF4-FFF2-40B4-BE49-F238E27FC236}">
                <a16:creationId xmlns:a16="http://schemas.microsoft.com/office/drawing/2014/main" id="{4F79B8AC-8036-A380-CFA6-D52A6366BBAE}"/>
              </a:ext>
            </a:extLst>
          </p:cNvPr>
          <p:cNvSpPr>
            <a:spLocks noGrp="1" noChangeArrowheads="1"/>
          </p:cNvSpPr>
          <p:nvPr>
            <p:ph idx="1"/>
          </p:nvPr>
        </p:nvSpPr>
        <p:spPr bwMode="auto">
          <a:xfrm>
            <a:off x="838200" y="1686521"/>
            <a:ext cx="9972217" cy="444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Aligns IT initiatives with business goals to support growth, efficiency, and competitive advantage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IT enables business strategy through digital transformation, automation, data analytics, and innovation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Business strategy guides IT investments, priorities, and technology adoption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Data-driven insights from IT systems support strategic planning and decision-making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Integrated IT infrastructure improves agility, scalability, and faster response to market changes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Collaboration between business leaders and IT teams ensures value creation and effective resource use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Strategic use of technologies such as cloud computing, AI, and cybersecurity strengthens long-term</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rPr>
              <a:t> business performance</a:t>
            </a:r>
          </a:p>
        </p:txBody>
      </p:sp>
    </p:spTree>
    <p:extLst>
      <p:ext uri="{BB962C8B-B14F-4D97-AF65-F5344CB8AC3E}">
        <p14:creationId xmlns:p14="http://schemas.microsoft.com/office/powerpoint/2010/main" val="1792087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DC4A7-F55A-6463-52D6-808378CD6928}"/>
              </a:ext>
            </a:extLst>
          </p:cNvPr>
          <p:cNvSpPr>
            <a:spLocks noGrp="1"/>
          </p:cNvSpPr>
          <p:nvPr>
            <p:ph type="title"/>
          </p:nvPr>
        </p:nvSpPr>
        <p:spPr>
          <a:xfrm>
            <a:off x="970280" y="1482725"/>
            <a:ext cx="10515600" cy="1325563"/>
          </a:xfrm>
        </p:spPr>
        <p:txBody>
          <a:bodyPr/>
          <a:lstStyle/>
          <a:p>
            <a:r>
              <a:rPr lang="en-US" b="1" dirty="0">
                <a:latin typeface="+mn-lt"/>
              </a:rPr>
              <a:t>2. Data </a:t>
            </a:r>
            <a:r>
              <a:rPr lang="en-US" b="1" dirty="0" err="1">
                <a:latin typeface="+mn-lt"/>
              </a:rPr>
              <a:t>Types,Sources,and</a:t>
            </a:r>
            <a:r>
              <a:rPr lang="en-US" b="1" dirty="0">
                <a:latin typeface="+mn-lt"/>
              </a:rPr>
              <a:t> Lifecycle</a:t>
            </a:r>
            <a:endParaRPr lang="en-IN" b="1" dirty="0">
              <a:latin typeface="+mn-lt"/>
            </a:endParaRPr>
          </a:p>
        </p:txBody>
      </p:sp>
    </p:spTree>
    <p:extLst>
      <p:ext uri="{BB962C8B-B14F-4D97-AF65-F5344CB8AC3E}">
        <p14:creationId xmlns:p14="http://schemas.microsoft.com/office/powerpoint/2010/main" val="4205404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83DD1-6E0D-2D04-968E-76B55EF21F50}"/>
              </a:ext>
            </a:extLst>
          </p:cNvPr>
          <p:cNvSpPr>
            <a:spLocks noGrp="1"/>
          </p:cNvSpPr>
          <p:nvPr>
            <p:ph type="title"/>
          </p:nvPr>
        </p:nvSpPr>
        <p:spPr/>
        <p:txBody>
          <a:bodyPr/>
          <a:lstStyle/>
          <a:p>
            <a:r>
              <a:rPr lang="en-US" sz="4000" b="1" dirty="0">
                <a:latin typeface="+mn-lt"/>
              </a:rPr>
              <a:t>2.1 Understanding Different data types</a:t>
            </a:r>
            <a:br>
              <a:rPr lang="en-US" dirty="0"/>
            </a:br>
            <a:r>
              <a:rPr lang="en-US" dirty="0"/>
              <a:t>   </a:t>
            </a:r>
            <a:r>
              <a:rPr lang="en-US" sz="3600" b="1" dirty="0">
                <a:latin typeface="+mn-lt"/>
              </a:rPr>
              <a:t>(</a:t>
            </a:r>
            <a:r>
              <a:rPr lang="en-US" sz="3600" b="1" dirty="0" err="1">
                <a:latin typeface="+mn-lt"/>
              </a:rPr>
              <a:t>Structured,Semi-structured,Unstructured</a:t>
            </a:r>
            <a:r>
              <a:rPr lang="en-US" sz="3600" b="1" dirty="0">
                <a:latin typeface="+mn-lt"/>
              </a:rPr>
              <a:t>)</a:t>
            </a:r>
            <a:endParaRPr lang="en-IN" b="1" dirty="0">
              <a:latin typeface="+mn-lt"/>
            </a:endParaRPr>
          </a:p>
        </p:txBody>
      </p:sp>
      <p:sp>
        <p:nvSpPr>
          <p:cNvPr id="3" name="Content Placeholder 2">
            <a:extLst>
              <a:ext uri="{FF2B5EF4-FFF2-40B4-BE49-F238E27FC236}">
                <a16:creationId xmlns:a16="http://schemas.microsoft.com/office/drawing/2014/main" id="{23065EC0-3719-196D-8B8A-313C2B6AC85F}"/>
              </a:ext>
            </a:extLst>
          </p:cNvPr>
          <p:cNvSpPr>
            <a:spLocks noGrp="1"/>
          </p:cNvSpPr>
          <p:nvPr>
            <p:ph idx="1"/>
          </p:nvPr>
        </p:nvSpPr>
        <p:spPr/>
        <p:txBody>
          <a:bodyPr>
            <a:normAutofit/>
          </a:bodyPr>
          <a:lstStyle/>
          <a:p>
            <a:pPr marL="0" indent="0">
              <a:buNone/>
            </a:pPr>
            <a:r>
              <a:rPr lang="en-US" b="1" dirty="0"/>
              <a:t>1. Structured Data</a:t>
            </a:r>
          </a:p>
          <a:p>
            <a:pPr marL="0" indent="0">
              <a:buNone/>
            </a:pPr>
            <a:r>
              <a:rPr lang="en-US" b="1" dirty="0"/>
              <a:t> Definition:</a:t>
            </a:r>
            <a:br>
              <a:rPr lang="en-US" dirty="0"/>
            </a:br>
            <a:r>
              <a:rPr lang="en-US" dirty="0"/>
              <a:t>Structured data is organized in a fixed format with a predefined schema (rows and columns), making it easy to store, search, and analyze.</a:t>
            </a:r>
          </a:p>
          <a:p>
            <a:pPr marL="0" indent="0">
              <a:buNone/>
            </a:pPr>
            <a:r>
              <a:rPr lang="en-US" b="1" dirty="0"/>
              <a:t> Characteristics</a:t>
            </a:r>
            <a:endParaRPr lang="en-US" dirty="0"/>
          </a:p>
          <a:p>
            <a:r>
              <a:rPr lang="en-US" dirty="0"/>
              <a:t>Highly organized</a:t>
            </a:r>
          </a:p>
          <a:p>
            <a:r>
              <a:rPr lang="en-US" dirty="0"/>
              <a:t>Stored in tables (rows &amp; columns)</a:t>
            </a:r>
          </a:p>
          <a:p>
            <a:r>
              <a:rPr lang="en-US" dirty="0"/>
              <a:t>Easy to query using SQL</a:t>
            </a:r>
          </a:p>
          <a:p>
            <a:r>
              <a:rPr lang="en-US" dirty="0"/>
              <a:t>Consistent format</a:t>
            </a:r>
          </a:p>
          <a:p>
            <a:endParaRPr lang="en-IN" dirty="0"/>
          </a:p>
        </p:txBody>
      </p:sp>
    </p:spTree>
    <p:extLst>
      <p:ext uri="{BB962C8B-B14F-4D97-AF65-F5344CB8AC3E}">
        <p14:creationId xmlns:p14="http://schemas.microsoft.com/office/powerpoint/2010/main" val="396747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A9AADF-36F5-CD9D-AB48-8166F8C81669}"/>
              </a:ext>
            </a:extLst>
          </p:cNvPr>
          <p:cNvSpPr>
            <a:spLocks noGrp="1"/>
          </p:cNvSpPr>
          <p:nvPr>
            <p:ph idx="1"/>
          </p:nvPr>
        </p:nvSpPr>
        <p:spPr>
          <a:xfrm>
            <a:off x="838200" y="538480"/>
            <a:ext cx="10515600" cy="5638483"/>
          </a:xfrm>
        </p:spPr>
        <p:txBody>
          <a:bodyPr/>
          <a:lstStyle/>
          <a:p>
            <a:pPr marL="0" indent="0">
              <a:buNone/>
            </a:pPr>
            <a:r>
              <a:rPr lang="en-IN" b="1" dirty="0"/>
              <a:t> Examples</a:t>
            </a:r>
            <a:endParaRPr lang="en-IN" dirty="0"/>
          </a:p>
          <a:p>
            <a:r>
              <a:rPr lang="en-IN" dirty="0"/>
              <a:t>Database records (MySQL, Oracle)</a:t>
            </a:r>
          </a:p>
          <a:p>
            <a:r>
              <a:rPr lang="en-IN" dirty="0"/>
              <a:t>Excel spreadsheets</a:t>
            </a:r>
          </a:p>
          <a:p>
            <a:r>
              <a:rPr lang="en-IN" dirty="0"/>
              <a:t>Employee details (ID, Name, Salary)</a:t>
            </a:r>
          </a:p>
          <a:p>
            <a:r>
              <a:rPr lang="en-IN" dirty="0"/>
              <a:t>Banking transactions</a:t>
            </a:r>
          </a:p>
          <a:p>
            <a:r>
              <a:rPr lang="en-IN" dirty="0"/>
              <a:t>ERP/CRM data</a:t>
            </a:r>
          </a:p>
          <a:p>
            <a:pPr marL="0" indent="0">
              <a:buNone/>
            </a:pPr>
            <a:r>
              <a:rPr lang="en-IN" b="1" dirty="0"/>
              <a:t> Where used</a:t>
            </a:r>
            <a:endParaRPr lang="en-IN" dirty="0"/>
          </a:p>
          <a:p>
            <a:r>
              <a:rPr lang="en-IN" dirty="0"/>
              <a:t>Relational databases (RDBMS)</a:t>
            </a:r>
          </a:p>
          <a:p>
            <a:r>
              <a:rPr lang="en-IN" dirty="0"/>
              <a:t>Data warehouses</a:t>
            </a:r>
          </a:p>
          <a:p>
            <a:endParaRPr lang="en-IN" dirty="0"/>
          </a:p>
        </p:txBody>
      </p:sp>
    </p:spTree>
    <p:extLst>
      <p:ext uri="{BB962C8B-B14F-4D97-AF65-F5344CB8AC3E}">
        <p14:creationId xmlns:p14="http://schemas.microsoft.com/office/powerpoint/2010/main" val="504866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0C3B0-0C55-94EE-1DB7-FA155C725ADD}"/>
              </a:ext>
            </a:extLst>
          </p:cNvPr>
          <p:cNvSpPr>
            <a:spLocks noGrp="1"/>
          </p:cNvSpPr>
          <p:nvPr>
            <p:ph idx="1"/>
          </p:nvPr>
        </p:nvSpPr>
        <p:spPr>
          <a:xfrm>
            <a:off x="838200" y="172720"/>
            <a:ext cx="10515600" cy="6339840"/>
          </a:xfrm>
        </p:spPr>
        <p:txBody>
          <a:bodyPr>
            <a:normAutofit fontScale="92500" lnSpcReduction="20000"/>
          </a:bodyPr>
          <a:lstStyle/>
          <a:p>
            <a:pPr marL="0" indent="0">
              <a:buNone/>
            </a:pPr>
            <a:r>
              <a:rPr lang="en-IN" b="1" dirty="0"/>
              <a:t>2. Semi-Structured Data</a:t>
            </a:r>
          </a:p>
          <a:p>
            <a:pPr marL="0" indent="0">
              <a:buNone/>
            </a:pPr>
            <a:r>
              <a:rPr lang="en-IN" b="1" dirty="0"/>
              <a:t> Definition:</a:t>
            </a:r>
            <a:br>
              <a:rPr lang="en-IN" dirty="0"/>
            </a:br>
            <a:r>
              <a:rPr lang="en-IN" dirty="0"/>
              <a:t>Semi-structured data does not follow a strict table format but contains tags, labels, or</a:t>
            </a:r>
          </a:p>
          <a:p>
            <a:r>
              <a:rPr lang="en-IN" dirty="0"/>
              <a:t> markers to organize the data.</a:t>
            </a:r>
          </a:p>
          <a:p>
            <a:pPr marL="0" indent="0">
              <a:buNone/>
            </a:pPr>
            <a:r>
              <a:rPr lang="en-IN" b="1" dirty="0"/>
              <a:t> Characteristics</a:t>
            </a:r>
            <a:endParaRPr lang="en-IN" dirty="0"/>
          </a:p>
          <a:p>
            <a:r>
              <a:rPr lang="en-IN" dirty="0"/>
              <a:t>Flexible structure</a:t>
            </a:r>
          </a:p>
          <a:p>
            <a:r>
              <a:rPr lang="en-IN" dirty="0"/>
              <a:t>No fixed schema, but self-describing</a:t>
            </a:r>
          </a:p>
          <a:p>
            <a:r>
              <a:rPr lang="en-IN" dirty="0"/>
              <a:t>Easier to modify than structured data</a:t>
            </a:r>
          </a:p>
          <a:p>
            <a:pPr marL="0" indent="0">
              <a:buNone/>
            </a:pPr>
            <a:r>
              <a:rPr lang="en-IN" b="1" dirty="0"/>
              <a:t> Examples</a:t>
            </a:r>
            <a:endParaRPr lang="en-IN" dirty="0"/>
          </a:p>
          <a:p>
            <a:r>
              <a:rPr lang="en-IN" dirty="0"/>
              <a:t>JSON files</a:t>
            </a:r>
          </a:p>
          <a:p>
            <a:r>
              <a:rPr lang="en-IN" dirty="0"/>
              <a:t>XML documents</a:t>
            </a:r>
          </a:p>
          <a:p>
            <a:r>
              <a:rPr lang="en-IN" dirty="0"/>
              <a:t>HTML pages</a:t>
            </a:r>
          </a:p>
          <a:p>
            <a:r>
              <a:rPr lang="en-IN" dirty="0"/>
              <a:t>Emails</a:t>
            </a:r>
          </a:p>
          <a:p>
            <a:r>
              <a:rPr lang="en-IN" dirty="0"/>
              <a:t>Log files</a:t>
            </a:r>
          </a:p>
          <a:p>
            <a:pPr marL="0" indent="0">
              <a:buNone/>
            </a:pPr>
            <a:r>
              <a:rPr lang="en-IN" b="1" dirty="0"/>
              <a:t> Where used</a:t>
            </a:r>
            <a:endParaRPr lang="en-IN" dirty="0"/>
          </a:p>
          <a:p>
            <a:r>
              <a:rPr lang="en-IN" dirty="0"/>
              <a:t>Web applications</a:t>
            </a:r>
          </a:p>
          <a:p>
            <a:r>
              <a:rPr lang="en-IN" dirty="0"/>
              <a:t>APIs</a:t>
            </a:r>
          </a:p>
          <a:p>
            <a:r>
              <a:rPr lang="en-IN" dirty="0"/>
              <a:t>NoSQL databases (MongoDB, etc.)</a:t>
            </a:r>
          </a:p>
          <a:p>
            <a:endParaRPr lang="en-IN" dirty="0"/>
          </a:p>
        </p:txBody>
      </p:sp>
    </p:spTree>
    <p:extLst>
      <p:ext uri="{BB962C8B-B14F-4D97-AF65-F5344CB8AC3E}">
        <p14:creationId xmlns:p14="http://schemas.microsoft.com/office/powerpoint/2010/main" val="2475744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2BDE10-028B-42AB-29D0-88F0F093001F}"/>
              </a:ext>
            </a:extLst>
          </p:cNvPr>
          <p:cNvSpPr>
            <a:spLocks noGrp="1"/>
          </p:cNvSpPr>
          <p:nvPr>
            <p:ph idx="1"/>
          </p:nvPr>
        </p:nvSpPr>
        <p:spPr>
          <a:xfrm>
            <a:off x="838200" y="172720"/>
            <a:ext cx="10515600" cy="6441440"/>
          </a:xfrm>
        </p:spPr>
        <p:txBody>
          <a:bodyPr>
            <a:normAutofit fontScale="85000" lnSpcReduction="20000"/>
          </a:bodyPr>
          <a:lstStyle/>
          <a:p>
            <a:pPr marL="0" indent="0">
              <a:buNone/>
            </a:pPr>
            <a:r>
              <a:rPr lang="en-US" b="1" dirty="0"/>
              <a:t> 3. Unstructured Data</a:t>
            </a:r>
          </a:p>
          <a:p>
            <a:pPr marL="0" indent="0">
              <a:buNone/>
            </a:pPr>
            <a:r>
              <a:rPr lang="en-US" b="1" dirty="0"/>
              <a:t> Definition:</a:t>
            </a:r>
            <a:br>
              <a:rPr lang="en-US" dirty="0"/>
            </a:br>
            <a:r>
              <a:rPr lang="en-US" dirty="0"/>
              <a:t>Unstructured data has no predefined format or organization, making it difficult to store and</a:t>
            </a:r>
          </a:p>
          <a:p>
            <a:r>
              <a:rPr lang="en-US" dirty="0"/>
              <a:t> analyze using traditional databases.</a:t>
            </a:r>
          </a:p>
          <a:p>
            <a:pPr marL="0" indent="0">
              <a:buNone/>
            </a:pPr>
            <a:r>
              <a:rPr lang="en-US" b="1" dirty="0"/>
              <a:t> Characteristics</a:t>
            </a:r>
            <a:endParaRPr lang="en-US" dirty="0"/>
          </a:p>
          <a:p>
            <a:r>
              <a:rPr lang="en-US" dirty="0"/>
              <a:t>No fixed structure</a:t>
            </a:r>
          </a:p>
          <a:p>
            <a:r>
              <a:rPr lang="en-US" dirty="0"/>
              <a:t>Large in volume</a:t>
            </a:r>
          </a:p>
          <a:p>
            <a:r>
              <a:rPr lang="en-US" dirty="0"/>
              <a:t>Requires advanced tools (AI, NLP, data mining) for analysis</a:t>
            </a:r>
          </a:p>
          <a:p>
            <a:pPr marL="0" indent="0">
              <a:buNone/>
            </a:pPr>
            <a:r>
              <a:rPr lang="en-US" b="1" dirty="0"/>
              <a:t> Examples</a:t>
            </a:r>
            <a:endParaRPr lang="en-US" dirty="0"/>
          </a:p>
          <a:p>
            <a:r>
              <a:rPr lang="en-US" dirty="0"/>
              <a:t>Images and videos</a:t>
            </a:r>
          </a:p>
          <a:p>
            <a:r>
              <a:rPr lang="en-US" dirty="0"/>
              <a:t>Audio files</a:t>
            </a:r>
          </a:p>
          <a:p>
            <a:r>
              <a:rPr lang="en-US" dirty="0"/>
              <a:t>Social media posts</a:t>
            </a:r>
          </a:p>
          <a:p>
            <a:r>
              <a:rPr lang="en-US" dirty="0"/>
              <a:t>Text documents (PDF, Word)</a:t>
            </a:r>
          </a:p>
          <a:p>
            <a:r>
              <a:rPr lang="en-US" dirty="0"/>
              <a:t>Emails (body content)</a:t>
            </a:r>
          </a:p>
          <a:p>
            <a:r>
              <a:rPr lang="en-US" dirty="0"/>
              <a:t>CCTV footage</a:t>
            </a:r>
          </a:p>
          <a:p>
            <a:pPr marL="0" indent="0">
              <a:buNone/>
            </a:pPr>
            <a:r>
              <a:rPr lang="en-US" b="1" dirty="0"/>
              <a:t> Where used</a:t>
            </a:r>
            <a:endParaRPr lang="en-US" dirty="0"/>
          </a:p>
          <a:p>
            <a:r>
              <a:rPr lang="en-US" dirty="0"/>
              <a:t>Big data analytics</a:t>
            </a:r>
          </a:p>
          <a:p>
            <a:r>
              <a:rPr lang="en-US" dirty="0"/>
              <a:t>Machine learning</a:t>
            </a:r>
          </a:p>
          <a:p>
            <a:r>
              <a:rPr lang="en-US" dirty="0"/>
              <a:t>Multimedia storage systems</a:t>
            </a:r>
          </a:p>
        </p:txBody>
      </p:sp>
    </p:spTree>
    <p:extLst>
      <p:ext uri="{BB962C8B-B14F-4D97-AF65-F5344CB8AC3E}">
        <p14:creationId xmlns:p14="http://schemas.microsoft.com/office/powerpoint/2010/main" val="3276583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58DF0-1F19-5ED0-0A46-BC52A5E57CFA}"/>
              </a:ext>
            </a:extLst>
          </p:cNvPr>
          <p:cNvSpPr>
            <a:spLocks noGrp="1"/>
          </p:cNvSpPr>
          <p:nvPr>
            <p:ph type="title"/>
          </p:nvPr>
        </p:nvSpPr>
        <p:spPr/>
        <p:txBody>
          <a:bodyPr>
            <a:normAutofit/>
          </a:bodyPr>
          <a:lstStyle/>
          <a:p>
            <a:r>
              <a:rPr lang="en-IN" sz="4000" b="1" dirty="0">
                <a:latin typeface="+mn-lt"/>
                <a:hlinkClick r:id="rId2">
                  <a:extLst>
                    <a:ext uri="{A12FA001-AC4F-418D-AE19-62706E023703}">
                      <ahyp:hlinkClr xmlns:ahyp="http://schemas.microsoft.com/office/drawing/2018/hyperlinkcolor" val="tx"/>
                    </a:ext>
                  </a:extLst>
                </a:hlinkClick>
              </a:rPr>
              <a:t>2.2 Common Data Sources (Internal, External, Databases, APIs)URL</a:t>
            </a:r>
            <a:endParaRPr lang="en-IN" sz="4000" b="1" dirty="0">
              <a:latin typeface="+mn-lt"/>
            </a:endParaRPr>
          </a:p>
        </p:txBody>
      </p:sp>
      <p:sp>
        <p:nvSpPr>
          <p:cNvPr id="3" name="Content Placeholder 2">
            <a:extLst>
              <a:ext uri="{FF2B5EF4-FFF2-40B4-BE49-F238E27FC236}">
                <a16:creationId xmlns:a16="http://schemas.microsoft.com/office/drawing/2014/main" id="{9EBE61E0-B823-1E68-BE5B-2ED5E4590EFB}"/>
              </a:ext>
            </a:extLst>
          </p:cNvPr>
          <p:cNvSpPr>
            <a:spLocks noGrp="1"/>
          </p:cNvSpPr>
          <p:nvPr>
            <p:ph idx="1"/>
          </p:nvPr>
        </p:nvSpPr>
        <p:spPr>
          <a:xfrm>
            <a:off x="502920" y="1687512"/>
            <a:ext cx="10515600" cy="4879975"/>
          </a:xfrm>
        </p:spPr>
        <p:txBody>
          <a:bodyPr>
            <a:normAutofit/>
          </a:bodyPr>
          <a:lstStyle/>
          <a:p>
            <a:pPr marL="0" indent="0">
              <a:buNone/>
            </a:pPr>
            <a:r>
              <a:rPr lang="en-US" b="1" dirty="0"/>
              <a:t>  Internal Data Sources</a:t>
            </a:r>
          </a:p>
          <a:p>
            <a:pPr marL="0" indent="0">
              <a:buNone/>
            </a:pPr>
            <a:r>
              <a:rPr lang="en-US" b="1" dirty="0"/>
              <a:t>  Definition:</a:t>
            </a:r>
            <a:br>
              <a:rPr lang="en-US" dirty="0"/>
            </a:br>
            <a:r>
              <a:rPr lang="en-US" dirty="0"/>
              <a:t>Internal data is generated and stored within an organization during its daily operations.</a:t>
            </a:r>
          </a:p>
          <a:p>
            <a:pPr marL="0" indent="0">
              <a:buNone/>
            </a:pPr>
            <a:r>
              <a:rPr lang="en-US" b="1" dirty="0"/>
              <a:t>  Examples:</a:t>
            </a:r>
            <a:endParaRPr lang="en-US" dirty="0"/>
          </a:p>
          <a:p>
            <a:r>
              <a:rPr lang="en-US" dirty="0"/>
              <a:t>ERP systems (finance, inventory, supply chain)</a:t>
            </a:r>
          </a:p>
          <a:p>
            <a:r>
              <a:rPr lang="en-US" dirty="0"/>
              <a:t>CRM systems (customer interactions, sales history)</a:t>
            </a:r>
          </a:p>
          <a:p>
            <a:r>
              <a:rPr lang="en-US" dirty="0"/>
              <a:t>HR systems (employee records, payroll)</a:t>
            </a:r>
          </a:p>
          <a:p>
            <a:r>
              <a:rPr lang="en-US" dirty="0"/>
              <a:t>Transaction data (billing, purchases, orders)</a:t>
            </a:r>
          </a:p>
          <a:p>
            <a:r>
              <a:rPr lang="en-US" dirty="0"/>
              <a:t>Website and app analytics</a:t>
            </a:r>
          </a:p>
          <a:p>
            <a:pPr marL="0" indent="0">
              <a:buNone/>
            </a:pPr>
            <a:endParaRPr lang="en-IN" dirty="0"/>
          </a:p>
        </p:txBody>
      </p:sp>
    </p:spTree>
    <p:extLst>
      <p:ext uri="{BB962C8B-B14F-4D97-AF65-F5344CB8AC3E}">
        <p14:creationId xmlns:p14="http://schemas.microsoft.com/office/powerpoint/2010/main" val="2111220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54ACB-6351-BC0F-ECAF-A71837ED00A0}"/>
              </a:ext>
            </a:extLst>
          </p:cNvPr>
          <p:cNvSpPr>
            <a:spLocks noGrp="1"/>
          </p:cNvSpPr>
          <p:nvPr>
            <p:ph idx="1"/>
          </p:nvPr>
        </p:nvSpPr>
        <p:spPr>
          <a:xfrm>
            <a:off x="838200" y="436880"/>
            <a:ext cx="10515600" cy="5740083"/>
          </a:xfrm>
        </p:spPr>
        <p:txBody>
          <a:bodyPr/>
          <a:lstStyle/>
          <a:p>
            <a:pPr marL="0" indent="0">
              <a:buNone/>
            </a:pPr>
            <a:r>
              <a:rPr lang="en-US" b="1" dirty="0"/>
              <a:t> Benefits:</a:t>
            </a:r>
            <a:endParaRPr lang="en-US" dirty="0"/>
          </a:p>
          <a:p>
            <a:r>
              <a:rPr lang="en-US" dirty="0"/>
              <a:t>Highly relevant and reliable</a:t>
            </a:r>
          </a:p>
          <a:p>
            <a:r>
              <a:rPr lang="en-US" dirty="0"/>
              <a:t>Easy to access and control</a:t>
            </a:r>
          </a:p>
          <a:p>
            <a:r>
              <a:rPr lang="en-US" dirty="0"/>
              <a:t>Supports operational and strategic decisions</a:t>
            </a:r>
          </a:p>
          <a:p>
            <a:pPr marL="0" indent="0">
              <a:buNone/>
            </a:pPr>
            <a:r>
              <a:rPr lang="en-US" b="1" dirty="0"/>
              <a:t> Example URLs:</a:t>
            </a:r>
            <a:endParaRPr lang="en-US" dirty="0"/>
          </a:p>
          <a:p>
            <a:r>
              <a:rPr lang="en-US" dirty="0"/>
              <a:t>SAP ERP</a:t>
            </a:r>
          </a:p>
          <a:p>
            <a:r>
              <a:rPr lang="en-US" dirty="0"/>
              <a:t>Salesforce CRM</a:t>
            </a:r>
          </a:p>
          <a:p>
            <a:r>
              <a:rPr lang="en-US" dirty="0"/>
              <a:t>Google Analytics</a:t>
            </a:r>
          </a:p>
          <a:p>
            <a:endParaRPr lang="en-IN" dirty="0"/>
          </a:p>
        </p:txBody>
      </p:sp>
    </p:spTree>
    <p:extLst>
      <p:ext uri="{BB962C8B-B14F-4D97-AF65-F5344CB8AC3E}">
        <p14:creationId xmlns:p14="http://schemas.microsoft.com/office/powerpoint/2010/main" val="1100884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D5C4C-099A-6259-76C0-4B2385238684}"/>
              </a:ext>
            </a:extLst>
          </p:cNvPr>
          <p:cNvSpPr>
            <a:spLocks noGrp="1"/>
          </p:cNvSpPr>
          <p:nvPr>
            <p:ph idx="1"/>
          </p:nvPr>
        </p:nvSpPr>
        <p:spPr>
          <a:xfrm>
            <a:off x="838200" y="477520"/>
            <a:ext cx="10515600" cy="5699443"/>
          </a:xfrm>
        </p:spPr>
        <p:txBody>
          <a:bodyPr/>
          <a:lstStyle/>
          <a:p>
            <a:pPr marL="0" indent="0">
              <a:buNone/>
            </a:pPr>
            <a:r>
              <a:rPr lang="en-US" b="1" dirty="0"/>
              <a:t>External Data Sources</a:t>
            </a:r>
          </a:p>
          <a:p>
            <a:pPr marL="0" indent="0">
              <a:buNone/>
            </a:pPr>
            <a:r>
              <a:rPr lang="en-US" b="1" dirty="0"/>
              <a:t> Definition:</a:t>
            </a:r>
            <a:br>
              <a:rPr lang="en-US" dirty="0"/>
            </a:br>
            <a:r>
              <a:rPr lang="en-US" dirty="0"/>
              <a:t>External data comes from outside the organization and helps understand market trends and the business environment.</a:t>
            </a:r>
          </a:p>
          <a:p>
            <a:pPr marL="0" indent="0">
              <a:buNone/>
            </a:pPr>
            <a:r>
              <a:rPr lang="en-US" b="1" dirty="0"/>
              <a:t> Examples:</a:t>
            </a:r>
            <a:endParaRPr lang="en-US" dirty="0"/>
          </a:p>
          <a:p>
            <a:r>
              <a:rPr lang="en-US" dirty="0"/>
              <a:t>Government and public datasets</a:t>
            </a:r>
          </a:p>
          <a:p>
            <a:r>
              <a:rPr lang="en-US" dirty="0"/>
              <a:t>Market research reports</a:t>
            </a:r>
          </a:p>
          <a:p>
            <a:r>
              <a:rPr lang="en-US" dirty="0"/>
              <a:t>Social media data</a:t>
            </a:r>
          </a:p>
          <a:p>
            <a:r>
              <a:rPr lang="en-US" dirty="0"/>
              <a:t>Industry and competitor information</a:t>
            </a:r>
          </a:p>
          <a:p>
            <a:r>
              <a:rPr lang="en-US" dirty="0"/>
              <a:t>Weather, economic, and demographic data</a:t>
            </a:r>
          </a:p>
          <a:p>
            <a:pPr marL="0" indent="0">
              <a:buNone/>
            </a:pPr>
            <a:endParaRPr lang="en-IN" dirty="0"/>
          </a:p>
        </p:txBody>
      </p:sp>
    </p:spTree>
    <p:extLst>
      <p:ext uri="{BB962C8B-B14F-4D97-AF65-F5344CB8AC3E}">
        <p14:creationId xmlns:p14="http://schemas.microsoft.com/office/powerpoint/2010/main" val="1047156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A6254B-969A-4BAB-A313-8AC112330190}"/>
              </a:ext>
            </a:extLst>
          </p:cNvPr>
          <p:cNvSpPr>
            <a:spLocks noGrp="1"/>
          </p:cNvSpPr>
          <p:nvPr>
            <p:ph idx="1"/>
          </p:nvPr>
        </p:nvSpPr>
        <p:spPr>
          <a:xfrm>
            <a:off x="838200" y="802640"/>
            <a:ext cx="10515600" cy="5374323"/>
          </a:xfrm>
        </p:spPr>
        <p:txBody>
          <a:bodyPr/>
          <a:lstStyle/>
          <a:p>
            <a:pPr marL="0" indent="0">
              <a:buNone/>
            </a:pPr>
            <a:r>
              <a:rPr lang="en-US" b="1" dirty="0"/>
              <a:t> Benefits:</a:t>
            </a:r>
            <a:endParaRPr lang="en-US" dirty="0"/>
          </a:p>
          <a:p>
            <a:r>
              <a:rPr lang="en-US" dirty="0"/>
              <a:t>Provides market and customer insights</a:t>
            </a:r>
          </a:p>
          <a:p>
            <a:r>
              <a:rPr lang="en-US" dirty="0"/>
              <a:t>Helps in forecasting and competitive analysis</a:t>
            </a:r>
          </a:p>
          <a:p>
            <a:r>
              <a:rPr lang="en-US" dirty="0"/>
              <a:t>Supports strategic planning</a:t>
            </a:r>
          </a:p>
          <a:p>
            <a:pPr marL="0" indent="0">
              <a:buNone/>
            </a:pPr>
            <a:r>
              <a:rPr lang="en-US" b="1" dirty="0"/>
              <a:t> Example URLs:</a:t>
            </a:r>
            <a:endParaRPr lang="en-US" dirty="0"/>
          </a:p>
          <a:p>
            <a:r>
              <a:rPr lang="en-US" dirty="0"/>
              <a:t>Government Open Data (India)</a:t>
            </a:r>
          </a:p>
          <a:p>
            <a:r>
              <a:rPr lang="en-US" dirty="0"/>
              <a:t>World Bank Data</a:t>
            </a:r>
          </a:p>
          <a:p>
            <a:r>
              <a:rPr lang="en-US" dirty="0"/>
              <a:t>Twitter/X Data Access</a:t>
            </a:r>
          </a:p>
          <a:p>
            <a:endParaRPr lang="en-IN" dirty="0"/>
          </a:p>
        </p:txBody>
      </p:sp>
    </p:spTree>
    <p:extLst>
      <p:ext uri="{BB962C8B-B14F-4D97-AF65-F5344CB8AC3E}">
        <p14:creationId xmlns:p14="http://schemas.microsoft.com/office/powerpoint/2010/main" val="2121569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B669E1-E737-C442-2A8D-4C293712B581}"/>
              </a:ext>
            </a:extLst>
          </p:cNvPr>
          <p:cNvSpPr>
            <a:spLocks noGrp="1"/>
          </p:cNvSpPr>
          <p:nvPr>
            <p:ph idx="1"/>
          </p:nvPr>
        </p:nvSpPr>
        <p:spPr>
          <a:xfrm>
            <a:off x="838200" y="406400"/>
            <a:ext cx="10515600" cy="5770563"/>
          </a:xfrm>
        </p:spPr>
        <p:txBody>
          <a:bodyPr>
            <a:normAutofit fontScale="92500" lnSpcReduction="20000"/>
          </a:bodyPr>
          <a:lstStyle/>
          <a:p>
            <a:pPr marL="0" indent="0">
              <a:buNone/>
            </a:pPr>
            <a:r>
              <a:rPr lang="en-IN" sz="3100" b="1" dirty="0"/>
              <a:t>  Databases &amp; APIs as Data Sources</a:t>
            </a:r>
          </a:p>
          <a:p>
            <a:pPr marL="0" indent="0">
              <a:buNone/>
            </a:pPr>
            <a:r>
              <a:rPr lang="en-IN" b="1" dirty="0"/>
              <a:t> Databases:</a:t>
            </a:r>
            <a:endParaRPr lang="en-IN" dirty="0"/>
          </a:p>
          <a:p>
            <a:r>
              <a:rPr lang="en-IN" dirty="0"/>
              <a:t>Structured storage systems used to organize and manage data</a:t>
            </a:r>
          </a:p>
          <a:p>
            <a:r>
              <a:rPr lang="en-IN" dirty="0"/>
              <a:t>Types: Relational (MySQL, PostgreSQL, Oracle) and NoSQL (MongoDB)</a:t>
            </a:r>
          </a:p>
          <a:p>
            <a:r>
              <a:rPr lang="en-IN" dirty="0"/>
              <a:t>Used for fast retrieval, updates, and analysis</a:t>
            </a:r>
          </a:p>
          <a:p>
            <a:pPr marL="0" indent="0">
              <a:buNone/>
            </a:pPr>
            <a:r>
              <a:rPr lang="en-IN" b="1" dirty="0"/>
              <a:t> Example Database URLs:</a:t>
            </a:r>
            <a:endParaRPr lang="en-IN" dirty="0"/>
          </a:p>
          <a:p>
            <a:r>
              <a:rPr lang="en-IN" dirty="0"/>
              <a:t>MySQL</a:t>
            </a:r>
          </a:p>
          <a:p>
            <a:r>
              <a:rPr lang="en-IN" dirty="0"/>
              <a:t>MongoDB</a:t>
            </a:r>
          </a:p>
          <a:p>
            <a:pPr marL="0" indent="0">
              <a:buNone/>
            </a:pPr>
            <a:r>
              <a:rPr lang="en-IN" b="1" dirty="0"/>
              <a:t> APIs (Application Programming Interfaces):</a:t>
            </a:r>
            <a:endParaRPr lang="en-IN" dirty="0"/>
          </a:p>
          <a:p>
            <a:r>
              <a:rPr lang="en-IN" dirty="0"/>
              <a:t>Allow applications to access and exchange data automatically</a:t>
            </a:r>
          </a:p>
          <a:p>
            <a:r>
              <a:rPr lang="en-IN" dirty="0"/>
              <a:t>Enable real-time data integration from external services</a:t>
            </a:r>
          </a:p>
          <a:p>
            <a:pPr marL="0" indent="0">
              <a:buNone/>
            </a:pPr>
            <a:r>
              <a:rPr lang="en-IN" b="1" dirty="0"/>
              <a:t> Common API Examples:</a:t>
            </a:r>
            <a:endParaRPr lang="en-IN" dirty="0"/>
          </a:p>
          <a:p>
            <a:r>
              <a:rPr lang="en-IN" dirty="0" err="1"/>
              <a:t>OpenWeather</a:t>
            </a:r>
            <a:r>
              <a:rPr lang="en-IN" dirty="0"/>
              <a:t> API</a:t>
            </a:r>
          </a:p>
          <a:p>
            <a:r>
              <a:rPr lang="en-IN" dirty="0"/>
              <a:t>Google Maps API</a:t>
            </a:r>
          </a:p>
          <a:p>
            <a:r>
              <a:rPr lang="en-IN" dirty="0"/>
              <a:t>REST API Guide</a:t>
            </a:r>
          </a:p>
          <a:p>
            <a:endParaRPr lang="en-IN" dirty="0"/>
          </a:p>
        </p:txBody>
      </p:sp>
    </p:spTree>
    <p:extLst>
      <p:ext uri="{BB962C8B-B14F-4D97-AF65-F5344CB8AC3E}">
        <p14:creationId xmlns:p14="http://schemas.microsoft.com/office/powerpoint/2010/main" val="343894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28157-B86D-55FC-F524-B796C8375A91}"/>
              </a:ext>
            </a:extLst>
          </p:cNvPr>
          <p:cNvSpPr>
            <a:spLocks noGrp="1"/>
          </p:cNvSpPr>
          <p:nvPr>
            <p:ph type="title"/>
          </p:nvPr>
        </p:nvSpPr>
        <p:spPr>
          <a:xfrm>
            <a:off x="838200" y="365125"/>
            <a:ext cx="10515600" cy="793115"/>
          </a:xfrm>
        </p:spPr>
        <p:txBody>
          <a:bodyPr/>
          <a:lstStyle/>
          <a:p>
            <a:r>
              <a:rPr lang="en-IN" b="1" dirty="0">
                <a:latin typeface="+mn-lt"/>
              </a:rPr>
              <a:t>2.3 Data collection Methods</a:t>
            </a:r>
          </a:p>
        </p:txBody>
      </p:sp>
      <p:sp>
        <p:nvSpPr>
          <p:cNvPr id="3" name="Content Placeholder 2">
            <a:extLst>
              <a:ext uri="{FF2B5EF4-FFF2-40B4-BE49-F238E27FC236}">
                <a16:creationId xmlns:a16="http://schemas.microsoft.com/office/drawing/2014/main" id="{1F2C3AA1-2D1B-F180-392A-AA37FC814FBA}"/>
              </a:ext>
            </a:extLst>
          </p:cNvPr>
          <p:cNvSpPr>
            <a:spLocks noGrp="1"/>
          </p:cNvSpPr>
          <p:nvPr>
            <p:ph idx="1"/>
          </p:nvPr>
        </p:nvSpPr>
        <p:spPr>
          <a:xfrm>
            <a:off x="838200" y="1158240"/>
            <a:ext cx="10515600" cy="5334635"/>
          </a:xfrm>
        </p:spPr>
        <p:txBody>
          <a:bodyPr>
            <a:normAutofit/>
          </a:bodyPr>
          <a:lstStyle/>
          <a:p>
            <a:pPr marL="0" indent="0">
              <a:buNone/>
            </a:pPr>
            <a:r>
              <a:rPr lang="en-US" b="1" dirty="0"/>
              <a:t> Introduction to Data Collection</a:t>
            </a:r>
          </a:p>
          <a:p>
            <a:pPr marL="0" indent="0">
              <a:buNone/>
            </a:pPr>
            <a:r>
              <a:rPr lang="en-US" b="1" dirty="0"/>
              <a:t> What is Data Collection?</a:t>
            </a:r>
            <a:br>
              <a:rPr lang="en-US" dirty="0"/>
            </a:br>
            <a:r>
              <a:rPr lang="en-US" dirty="0"/>
              <a:t> Data collection is the systematic process of gathering information from        various sources to analyze, make decisions, and solve problems.</a:t>
            </a:r>
          </a:p>
          <a:p>
            <a:pPr marL="0" indent="0">
              <a:buNone/>
            </a:pPr>
            <a:r>
              <a:rPr lang="en-US" b="1" dirty="0"/>
              <a:t> Why Data Collection is Important</a:t>
            </a:r>
            <a:endParaRPr lang="en-US" dirty="0"/>
          </a:p>
          <a:p>
            <a:r>
              <a:rPr lang="en-US" dirty="0"/>
              <a:t>Supports informed decision-making</a:t>
            </a:r>
          </a:p>
          <a:p>
            <a:r>
              <a:rPr lang="en-US" dirty="0"/>
              <a:t>Improves business planning and strategy</a:t>
            </a:r>
          </a:p>
          <a:p>
            <a:r>
              <a:rPr lang="en-US" dirty="0"/>
              <a:t>Helps understand customer behavior</a:t>
            </a:r>
          </a:p>
          <a:p>
            <a:r>
              <a:rPr lang="en-US" dirty="0"/>
              <a:t>Ensures accuracy in research and analysis</a:t>
            </a:r>
          </a:p>
          <a:p>
            <a:pPr marL="0" indent="0">
              <a:buNone/>
            </a:pPr>
            <a:r>
              <a:rPr lang="en-US" b="1" dirty="0"/>
              <a:t> Types of Data</a:t>
            </a:r>
            <a:endParaRPr lang="en-US" dirty="0"/>
          </a:p>
          <a:p>
            <a:r>
              <a:rPr lang="en-US" dirty="0"/>
              <a:t>Quantitative (numbers, statistics)</a:t>
            </a:r>
          </a:p>
          <a:p>
            <a:r>
              <a:rPr lang="en-US" dirty="0"/>
              <a:t>Qualitative (opinions, feedback, observations)</a:t>
            </a:r>
          </a:p>
          <a:p>
            <a:endParaRPr lang="en-IN" dirty="0"/>
          </a:p>
        </p:txBody>
      </p:sp>
    </p:spTree>
    <p:extLst>
      <p:ext uri="{BB962C8B-B14F-4D97-AF65-F5344CB8AC3E}">
        <p14:creationId xmlns:p14="http://schemas.microsoft.com/office/powerpoint/2010/main" val="3717702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4F513-B4FB-0D21-0117-5494F44335C5}"/>
              </a:ext>
            </a:extLst>
          </p:cNvPr>
          <p:cNvSpPr>
            <a:spLocks noGrp="1"/>
          </p:cNvSpPr>
          <p:nvPr>
            <p:ph idx="1"/>
          </p:nvPr>
        </p:nvSpPr>
        <p:spPr>
          <a:xfrm>
            <a:off x="838200" y="386080"/>
            <a:ext cx="10515600" cy="5790883"/>
          </a:xfrm>
        </p:spPr>
        <p:txBody>
          <a:bodyPr>
            <a:normAutofit/>
          </a:bodyPr>
          <a:lstStyle/>
          <a:p>
            <a:pPr marL="0" indent="0">
              <a:buNone/>
            </a:pPr>
            <a:r>
              <a:rPr lang="en-US" b="1" dirty="0"/>
              <a:t> </a:t>
            </a:r>
            <a:r>
              <a:rPr lang="en-US" b="1" u="sng" dirty="0"/>
              <a:t>Primary Data Collection Methods</a:t>
            </a:r>
          </a:p>
          <a:p>
            <a:r>
              <a:rPr lang="en-US" dirty="0"/>
              <a:t>Primary data is collected directly from the original source.</a:t>
            </a:r>
          </a:p>
          <a:p>
            <a:pPr marL="0" indent="0">
              <a:buNone/>
            </a:pPr>
            <a:r>
              <a:rPr lang="en-US" b="1" dirty="0"/>
              <a:t> Common Methods</a:t>
            </a:r>
            <a:endParaRPr lang="en-US" dirty="0"/>
          </a:p>
          <a:p>
            <a:r>
              <a:rPr lang="en-US" b="1" dirty="0"/>
              <a:t>Surveys &amp; Questionnaires</a:t>
            </a:r>
            <a:r>
              <a:rPr lang="en-US" dirty="0"/>
              <a:t> – Online forms, feedback forms</a:t>
            </a:r>
          </a:p>
          <a:p>
            <a:r>
              <a:rPr lang="en-US" b="1" dirty="0"/>
              <a:t>Interviews</a:t>
            </a:r>
            <a:r>
              <a:rPr lang="en-US" dirty="0"/>
              <a:t> – Face-to-face, phone, or video interviews</a:t>
            </a:r>
          </a:p>
          <a:p>
            <a:r>
              <a:rPr lang="en-US" b="1" dirty="0"/>
              <a:t>Observations</a:t>
            </a:r>
            <a:r>
              <a:rPr lang="en-US" dirty="0"/>
              <a:t> – Monitoring customer or user behavior</a:t>
            </a:r>
          </a:p>
          <a:p>
            <a:r>
              <a:rPr lang="en-US" b="1" dirty="0"/>
              <a:t>Experiments</a:t>
            </a:r>
            <a:r>
              <a:rPr lang="en-US" dirty="0"/>
              <a:t> – Testing under controlled conditions</a:t>
            </a:r>
          </a:p>
          <a:p>
            <a:r>
              <a:rPr lang="en-US" b="1" dirty="0"/>
              <a:t>Focus Groups</a:t>
            </a:r>
            <a:r>
              <a:rPr lang="en-US" dirty="0"/>
              <a:t> – Group discussions for opinions and insights</a:t>
            </a:r>
          </a:p>
          <a:p>
            <a:pPr marL="0" indent="0">
              <a:buNone/>
            </a:pPr>
            <a:r>
              <a:rPr lang="en-US" b="1" dirty="0"/>
              <a:t> Advantages</a:t>
            </a:r>
            <a:endParaRPr lang="en-US" dirty="0"/>
          </a:p>
          <a:p>
            <a:r>
              <a:rPr lang="en-US" dirty="0"/>
              <a:t>Specific and accurate</a:t>
            </a:r>
          </a:p>
          <a:p>
            <a:r>
              <a:rPr lang="en-US" dirty="0"/>
              <a:t>Collected for a particular purpose</a:t>
            </a:r>
          </a:p>
          <a:p>
            <a:r>
              <a:rPr lang="en-US" dirty="0"/>
              <a:t>Up-to-date information</a:t>
            </a:r>
          </a:p>
          <a:p>
            <a:pPr marL="0" indent="0">
              <a:buNone/>
            </a:pPr>
            <a:endParaRPr lang="en-IN" dirty="0"/>
          </a:p>
        </p:txBody>
      </p:sp>
    </p:spTree>
    <p:extLst>
      <p:ext uri="{BB962C8B-B14F-4D97-AF65-F5344CB8AC3E}">
        <p14:creationId xmlns:p14="http://schemas.microsoft.com/office/powerpoint/2010/main" val="3408416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916A7-54D7-A366-1A67-8A6F06109B03}"/>
              </a:ext>
            </a:extLst>
          </p:cNvPr>
          <p:cNvSpPr>
            <a:spLocks noGrp="1"/>
          </p:cNvSpPr>
          <p:nvPr>
            <p:ph idx="1"/>
          </p:nvPr>
        </p:nvSpPr>
        <p:spPr>
          <a:xfrm>
            <a:off x="838200" y="375920"/>
            <a:ext cx="10515600" cy="5801043"/>
          </a:xfrm>
        </p:spPr>
        <p:txBody>
          <a:bodyPr>
            <a:normAutofit/>
          </a:bodyPr>
          <a:lstStyle/>
          <a:p>
            <a:pPr marL="0" indent="0">
              <a:buNone/>
            </a:pPr>
            <a:r>
              <a:rPr lang="en-US" b="1" u="sng" dirty="0"/>
              <a:t> Secondary Data Collection Methods</a:t>
            </a:r>
          </a:p>
          <a:p>
            <a:r>
              <a:rPr lang="en-US" dirty="0"/>
              <a:t>Secondary data is data that has already been collected by others.</a:t>
            </a:r>
          </a:p>
          <a:p>
            <a:pPr marL="0" indent="0">
              <a:buNone/>
            </a:pPr>
            <a:r>
              <a:rPr lang="en-US" b="1" dirty="0"/>
              <a:t> Sources</a:t>
            </a:r>
            <a:endParaRPr lang="en-US" dirty="0"/>
          </a:p>
          <a:p>
            <a:r>
              <a:rPr lang="en-US" dirty="0"/>
              <a:t>Government publications and census data</a:t>
            </a:r>
          </a:p>
          <a:p>
            <a:r>
              <a:rPr lang="en-US" dirty="0"/>
              <a:t>Research reports and academic journals</a:t>
            </a:r>
          </a:p>
          <a:p>
            <a:r>
              <a:rPr lang="en-US" dirty="0"/>
              <a:t>Company records and annual reports</a:t>
            </a:r>
          </a:p>
          <a:p>
            <a:r>
              <a:rPr lang="en-US" dirty="0"/>
              <a:t>Websites and online databases</a:t>
            </a:r>
          </a:p>
          <a:p>
            <a:r>
              <a:rPr lang="en-US" dirty="0"/>
              <a:t>Industry and market research reports</a:t>
            </a:r>
          </a:p>
          <a:p>
            <a:pPr marL="0" indent="0">
              <a:buNone/>
            </a:pPr>
            <a:r>
              <a:rPr lang="en-US" b="1" dirty="0"/>
              <a:t> Advantages</a:t>
            </a:r>
            <a:endParaRPr lang="en-US" dirty="0"/>
          </a:p>
          <a:p>
            <a:r>
              <a:rPr lang="en-US" dirty="0"/>
              <a:t>Saves time and cost</a:t>
            </a:r>
          </a:p>
          <a:p>
            <a:r>
              <a:rPr lang="en-US" dirty="0"/>
              <a:t>Easily available</a:t>
            </a:r>
          </a:p>
          <a:p>
            <a:r>
              <a:rPr lang="en-US" dirty="0"/>
              <a:t>Useful for background research</a:t>
            </a:r>
          </a:p>
          <a:p>
            <a:pPr marL="0" indent="0">
              <a:buNone/>
            </a:pPr>
            <a:endParaRPr lang="en-IN" dirty="0"/>
          </a:p>
        </p:txBody>
      </p:sp>
    </p:spTree>
    <p:extLst>
      <p:ext uri="{BB962C8B-B14F-4D97-AF65-F5344CB8AC3E}">
        <p14:creationId xmlns:p14="http://schemas.microsoft.com/office/powerpoint/2010/main" val="3673483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75A2A-E1F9-DAB4-D82C-7788266DA75E}"/>
              </a:ext>
            </a:extLst>
          </p:cNvPr>
          <p:cNvSpPr>
            <a:spLocks noGrp="1"/>
          </p:cNvSpPr>
          <p:nvPr>
            <p:ph idx="1"/>
          </p:nvPr>
        </p:nvSpPr>
        <p:spPr>
          <a:xfrm>
            <a:off x="838200" y="701040"/>
            <a:ext cx="10515600" cy="5475923"/>
          </a:xfrm>
        </p:spPr>
        <p:txBody>
          <a:bodyPr>
            <a:normAutofit/>
          </a:bodyPr>
          <a:lstStyle/>
          <a:p>
            <a:pPr marL="0" indent="0">
              <a:buNone/>
            </a:pPr>
            <a:r>
              <a:rPr lang="en-IN" b="1" dirty="0"/>
              <a:t> Digital &amp; Automated Data Collection</a:t>
            </a:r>
          </a:p>
          <a:p>
            <a:r>
              <a:rPr lang="en-IN" dirty="0"/>
              <a:t>Modern technology enables automated data gathering.</a:t>
            </a:r>
          </a:p>
          <a:p>
            <a:pPr marL="0" indent="0">
              <a:buNone/>
            </a:pPr>
            <a:r>
              <a:rPr lang="en-IN" b="1" dirty="0"/>
              <a:t> Methods</a:t>
            </a:r>
            <a:endParaRPr lang="en-IN" dirty="0"/>
          </a:p>
          <a:p>
            <a:r>
              <a:rPr lang="en-IN" dirty="0"/>
              <a:t>Website analytics (user activity tracking)</a:t>
            </a:r>
          </a:p>
          <a:p>
            <a:r>
              <a:rPr lang="en-IN" dirty="0"/>
              <a:t>Mobile app data collection</a:t>
            </a:r>
          </a:p>
          <a:p>
            <a:r>
              <a:rPr lang="en-IN" dirty="0"/>
              <a:t>Social media monitoring</a:t>
            </a:r>
          </a:p>
          <a:p>
            <a:r>
              <a:rPr lang="en-IN" dirty="0"/>
              <a:t>IoT sensors and smart devices</a:t>
            </a:r>
          </a:p>
          <a:p>
            <a:r>
              <a:rPr lang="en-IN" dirty="0"/>
              <a:t>Transaction and system logs</a:t>
            </a:r>
          </a:p>
          <a:p>
            <a:pPr marL="0" indent="0">
              <a:buNone/>
            </a:pPr>
            <a:r>
              <a:rPr lang="en-IN" b="1" dirty="0"/>
              <a:t> Benefits</a:t>
            </a:r>
            <a:endParaRPr lang="en-IN" dirty="0"/>
          </a:p>
          <a:p>
            <a:r>
              <a:rPr lang="en-IN" dirty="0"/>
              <a:t>Real-time data collection</a:t>
            </a:r>
          </a:p>
          <a:p>
            <a:r>
              <a:rPr lang="en-IN" dirty="0"/>
              <a:t>Large volume of data</a:t>
            </a:r>
          </a:p>
          <a:p>
            <a:r>
              <a:rPr lang="en-IN" dirty="0"/>
              <a:t>High accuracy and efficiency</a:t>
            </a:r>
          </a:p>
          <a:p>
            <a:pPr marL="0" indent="0">
              <a:buNone/>
            </a:pPr>
            <a:endParaRPr lang="en-IN" dirty="0"/>
          </a:p>
        </p:txBody>
      </p:sp>
    </p:spTree>
    <p:extLst>
      <p:ext uri="{BB962C8B-B14F-4D97-AF65-F5344CB8AC3E}">
        <p14:creationId xmlns:p14="http://schemas.microsoft.com/office/powerpoint/2010/main" val="1329696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39C696-D8E5-AE91-EA19-62337C1139F4}"/>
              </a:ext>
            </a:extLst>
          </p:cNvPr>
          <p:cNvSpPr>
            <a:spLocks noGrp="1"/>
          </p:cNvSpPr>
          <p:nvPr>
            <p:ph idx="1"/>
          </p:nvPr>
        </p:nvSpPr>
        <p:spPr>
          <a:xfrm>
            <a:off x="838200" y="589280"/>
            <a:ext cx="10515600" cy="5587683"/>
          </a:xfrm>
        </p:spPr>
        <p:txBody>
          <a:bodyPr/>
          <a:lstStyle/>
          <a:p>
            <a:pPr marL="0" indent="0">
              <a:buNone/>
            </a:pPr>
            <a:r>
              <a:rPr lang="en-US" b="1" dirty="0"/>
              <a:t> Best Practices for Data Collection</a:t>
            </a:r>
          </a:p>
          <a:p>
            <a:r>
              <a:rPr lang="en-US" dirty="0"/>
              <a:t>Define clear objectives before collecting data</a:t>
            </a:r>
          </a:p>
          <a:p>
            <a:r>
              <a:rPr lang="en-US" dirty="0"/>
              <a:t>Choose the right method based on purpose</a:t>
            </a:r>
          </a:p>
          <a:p>
            <a:r>
              <a:rPr lang="en-US" dirty="0"/>
              <a:t>Ensure data accuracy and reliability</a:t>
            </a:r>
          </a:p>
          <a:p>
            <a:r>
              <a:rPr lang="en-US" dirty="0"/>
              <a:t>Maintain privacy and data security</a:t>
            </a:r>
          </a:p>
          <a:p>
            <a:r>
              <a:rPr lang="en-US" dirty="0"/>
              <a:t>Follow ethical and legal guidelines</a:t>
            </a:r>
          </a:p>
          <a:p>
            <a:r>
              <a:rPr lang="en-US" dirty="0"/>
              <a:t>Regularly validate and clean collected data</a:t>
            </a:r>
          </a:p>
          <a:p>
            <a:pPr marL="0" indent="0">
              <a:buNone/>
            </a:pPr>
            <a:r>
              <a:rPr lang="en-US" b="1" dirty="0"/>
              <a:t> Conclusion:</a:t>
            </a:r>
            <a:br>
              <a:rPr lang="en-US" dirty="0"/>
            </a:br>
            <a:r>
              <a:rPr lang="en-US" dirty="0"/>
              <a:t>Effective data collection improves analysis quality, supports better decisions, and increases organizational efficiency.</a:t>
            </a:r>
          </a:p>
          <a:p>
            <a:pPr marL="0" indent="0">
              <a:buNone/>
            </a:pPr>
            <a:endParaRPr lang="en-IN" dirty="0"/>
          </a:p>
        </p:txBody>
      </p:sp>
    </p:spTree>
    <p:extLst>
      <p:ext uri="{BB962C8B-B14F-4D97-AF65-F5344CB8AC3E}">
        <p14:creationId xmlns:p14="http://schemas.microsoft.com/office/powerpoint/2010/main" val="2948695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B0DC-940C-EFE1-2EF2-2FF7A23D5734}"/>
              </a:ext>
            </a:extLst>
          </p:cNvPr>
          <p:cNvSpPr>
            <a:spLocks noGrp="1"/>
          </p:cNvSpPr>
          <p:nvPr>
            <p:ph type="title"/>
          </p:nvPr>
        </p:nvSpPr>
        <p:spPr>
          <a:xfrm>
            <a:off x="838200" y="365125"/>
            <a:ext cx="10515600" cy="955675"/>
          </a:xfrm>
        </p:spPr>
        <p:txBody>
          <a:bodyPr>
            <a:normAutofit/>
          </a:bodyPr>
          <a:lstStyle/>
          <a:p>
            <a:r>
              <a:rPr lang="en-IN" sz="3200" b="1" dirty="0">
                <a:latin typeface="+mn-lt"/>
              </a:rPr>
              <a:t>2.4 Data Lifecycle Management</a:t>
            </a:r>
          </a:p>
        </p:txBody>
      </p:sp>
      <p:sp>
        <p:nvSpPr>
          <p:cNvPr id="3" name="Content Placeholder 2">
            <a:extLst>
              <a:ext uri="{FF2B5EF4-FFF2-40B4-BE49-F238E27FC236}">
                <a16:creationId xmlns:a16="http://schemas.microsoft.com/office/drawing/2014/main" id="{313BCDF7-7B82-4994-6D4C-6B5C7A969315}"/>
              </a:ext>
            </a:extLst>
          </p:cNvPr>
          <p:cNvSpPr>
            <a:spLocks noGrp="1"/>
          </p:cNvSpPr>
          <p:nvPr>
            <p:ph idx="1"/>
          </p:nvPr>
        </p:nvSpPr>
        <p:spPr>
          <a:xfrm>
            <a:off x="838200" y="1148080"/>
            <a:ext cx="10515600" cy="5028883"/>
          </a:xfrm>
        </p:spPr>
        <p:txBody>
          <a:bodyPr>
            <a:normAutofit fontScale="92500" lnSpcReduction="20000"/>
          </a:bodyPr>
          <a:lstStyle/>
          <a:p>
            <a:pPr marL="0" indent="0">
              <a:buNone/>
            </a:pPr>
            <a:r>
              <a:rPr lang="en-US" b="1" dirty="0"/>
              <a:t> </a:t>
            </a:r>
            <a:r>
              <a:rPr lang="en-US" sz="2600" b="1" u="sng" dirty="0"/>
              <a:t>Introduction to Data Lifecycle Management</a:t>
            </a:r>
          </a:p>
          <a:p>
            <a:pPr marL="0" indent="0">
              <a:buNone/>
            </a:pPr>
            <a:r>
              <a:rPr lang="en-US" sz="2600" b="1" dirty="0"/>
              <a:t> What is Data Lifecycle Management (DLM)?</a:t>
            </a:r>
            <a:br>
              <a:rPr lang="en-US" sz="2600" dirty="0"/>
            </a:br>
            <a:r>
              <a:rPr lang="en-US" sz="2600" dirty="0"/>
              <a:t>Data Lifecycle Management is the process of managing data from its creation to its final disposal in a structured and secure manner.</a:t>
            </a:r>
          </a:p>
          <a:p>
            <a:pPr marL="0" indent="0">
              <a:buNone/>
            </a:pPr>
            <a:r>
              <a:rPr lang="en-US" sz="2600" b="1" dirty="0"/>
              <a:t> Purpose of DLM</a:t>
            </a:r>
            <a:endParaRPr lang="en-US" sz="2600" dirty="0"/>
          </a:p>
          <a:p>
            <a:r>
              <a:rPr lang="en-US" sz="2600" dirty="0"/>
              <a:t>Ensure data quality and consistency</a:t>
            </a:r>
          </a:p>
          <a:p>
            <a:r>
              <a:rPr lang="en-US" sz="2600" dirty="0"/>
              <a:t>Improve data availability and usability</a:t>
            </a:r>
          </a:p>
          <a:p>
            <a:r>
              <a:rPr lang="en-US" sz="2600" dirty="0"/>
              <a:t>Reduce storage and management costs</a:t>
            </a:r>
          </a:p>
          <a:p>
            <a:r>
              <a:rPr lang="en-US" sz="2600" dirty="0"/>
              <a:t>Protect sensitive information</a:t>
            </a:r>
          </a:p>
          <a:p>
            <a:r>
              <a:rPr lang="en-US" sz="2600" dirty="0"/>
              <a:t>Support compliance with legal and regulatory requirements</a:t>
            </a:r>
          </a:p>
          <a:p>
            <a:pPr marL="0" indent="0">
              <a:buNone/>
            </a:pPr>
            <a:r>
              <a:rPr lang="en-US" sz="2600" b="1" dirty="0"/>
              <a:t> Key Idea:</a:t>
            </a:r>
            <a:br>
              <a:rPr lang="en-US" sz="2600" dirty="0"/>
            </a:br>
            <a:r>
              <a:rPr lang="en-US" sz="2600" dirty="0"/>
              <a:t>Managing data properly throughout its life helps organizations make better decisions and maintain security.</a:t>
            </a:r>
          </a:p>
          <a:p>
            <a:pPr marL="0" indent="0">
              <a:buNone/>
            </a:pPr>
            <a:endParaRPr lang="en-IN" sz="2200" dirty="0"/>
          </a:p>
        </p:txBody>
      </p:sp>
    </p:spTree>
    <p:extLst>
      <p:ext uri="{BB962C8B-B14F-4D97-AF65-F5344CB8AC3E}">
        <p14:creationId xmlns:p14="http://schemas.microsoft.com/office/powerpoint/2010/main" val="833212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129486-27F9-9600-A632-7F147CC109EE}"/>
              </a:ext>
            </a:extLst>
          </p:cNvPr>
          <p:cNvSpPr>
            <a:spLocks noGrp="1"/>
          </p:cNvSpPr>
          <p:nvPr>
            <p:ph idx="1"/>
          </p:nvPr>
        </p:nvSpPr>
        <p:spPr>
          <a:xfrm>
            <a:off x="838200" y="487680"/>
            <a:ext cx="10515600" cy="5689283"/>
          </a:xfrm>
        </p:spPr>
        <p:txBody>
          <a:bodyPr/>
          <a:lstStyle/>
          <a:p>
            <a:pPr marL="0" indent="0">
              <a:buNone/>
            </a:pPr>
            <a:r>
              <a:rPr lang="en-US" b="1" dirty="0"/>
              <a:t> </a:t>
            </a:r>
            <a:r>
              <a:rPr lang="en-US" sz="2000" b="1" dirty="0"/>
              <a:t>Stages of the Data Lifecycle</a:t>
            </a:r>
          </a:p>
          <a:p>
            <a:r>
              <a:rPr lang="en-US" sz="2000" b="1" dirty="0"/>
              <a:t>Data Creation/Collection</a:t>
            </a:r>
            <a:r>
              <a:rPr lang="en-US" sz="2000" dirty="0"/>
              <a:t> – Data is generated from transactions, systems, sensors, or user input</a:t>
            </a:r>
          </a:p>
          <a:p>
            <a:r>
              <a:rPr lang="en-US" sz="2000" b="1" dirty="0"/>
              <a:t>Data Storage</a:t>
            </a:r>
            <a:r>
              <a:rPr lang="en-US" sz="2000" dirty="0"/>
              <a:t> – Data is stored in databases, data warehouses, or cloud storage</a:t>
            </a:r>
          </a:p>
          <a:p>
            <a:r>
              <a:rPr lang="en-US" sz="2000" b="1" dirty="0"/>
              <a:t>Data Processing</a:t>
            </a:r>
            <a:r>
              <a:rPr lang="en-US" sz="2000" dirty="0"/>
              <a:t> – Data is cleaned, validated, and transformed for analysis</a:t>
            </a:r>
          </a:p>
          <a:p>
            <a:r>
              <a:rPr lang="en-US" sz="2000" b="1" dirty="0"/>
              <a:t>Data Usage</a:t>
            </a:r>
            <a:r>
              <a:rPr lang="en-US" sz="2000" dirty="0"/>
              <a:t> – Data is accessed for reporting, analytics, and decision-making</a:t>
            </a:r>
          </a:p>
          <a:p>
            <a:r>
              <a:rPr lang="en-US" sz="2000" dirty="0"/>
              <a:t>Each stage ensures that data remains accurate, accessible, and useful.</a:t>
            </a:r>
          </a:p>
          <a:p>
            <a:pPr marL="0" indent="0">
              <a:buNone/>
            </a:pPr>
            <a:endParaRPr lang="en-IN" dirty="0"/>
          </a:p>
        </p:txBody>
      </p:sp>
      <p:pic>
        <p:nvPicPr>
          <p:cNvPr id="10" name="Picture 9">
            <a:extLst>
              <a:ext uri="{FF2B5EF4-FFF2-40B4-BE49-F238E27FC236}">
                <a16:creationId xmlns:a16="http://schemas.microsoft.com/office/drawing/2014/main" id="{63BD8EAF-07E6-64F3-1652-FE3550B7C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1760" y="3429000"/>
            <a:ext cx="3800039" cy="2941320"/>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996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60779C-6B66-4A95-B96F-24468DFAA639}"/>
              </a:ext>
            </a:extLst>
          </p:cNvPr>
          <p:cNvSpPr>
            <a:spLocks noGrp="1"/>
          </p:cNvSpPr>
          <p:nvPr>
            <p:ph idx="1"/>
          </p:nvPr>
        </p:nvSpPr>
        <p:spPr>
          <a:xfrm>
            <a:off x="838200" y="254000"/>
            <a:ext cx="10515600" cy="5922963"/>
          </a:xfrm>
        </p:spPr>
        <p:txBody>
          <a:bodyPr/>
          <a:lstStyle/>
          <a:p>
            <a:pPr marL="0" indent="0">
              <a:buNone/>
            </a:pPr>
            <a:r>
              <a:rPr lang="en-US" b="1" dirty="0"/>
              <a:t> </a:t>
            </a:r>
            <a:r>
              <a:rPr lang="en-US" b="1" u="sng" dirty="0"/>
              <a:t>Data Maintenance and Security</a:t>
            </a:r>
          </a:p>
          <a:p>
            <a:pPr marL="0" indent="0">
              <a:buNone/>
            </a:pPr>
            <a:r>
              <a:rPr lang="en-US" b="1" dirty="0"/>
              <a:t> Data Sharing &amp; Integration</a:t>
            </a:r>
            <a:endParaRPr lang="en-US" dirty="0"/>
          </a:p>
          <a:p>
            <a:r>
              <a:rPr lang="en-US" dirty="0"/>
              <a:t>Data is shared across departments and systems</a:t>
            </a:r>
          </a:p>
          <a:p>
            <a:r>
              <a:rPr lang="en-US" dirty="0"/>
              <a:t>APIs and integration tools enable smooth data flow</a:t>
            </a:r>
          </a:p>
          <a:p>
            <a:pPr marL="0" indent="0">
              <a:buNone/>
            </a:pPr>
            <a:r>
              <a:rPr lang="en-US" b="1" dirty="0"/>
              <a:t> Data Maintenance</a:t>
            </a:r>
            <a:endParaRPr lang="en-US" dirty="0"/>
          </a:p>
          <a:p>
            <a:r>
              <a:rPr lang="en-US" dirty="0"/>
              <a:t>Regular updates and backups</a:t>
            </a:r>
          </a:p>
          <a:p>
            <a:r>
              <a:rPr lang="en-US" dirty="0"/>
              <a:t>Data quality checks and error correction</a:t>
            </a:r>
          </a:p>
          <a:p>
            <a:pPr marL="0" indent="0">
              <a:buNone/>
            </a:pPr>
            <a:r>
              <a:rPr lang="en-US" b="1" dirty="0"/>
              <a:t> Data Security</a:t>
            </a:r>
            <a:endParaRPr lang="en-US" dirty="0"/>
          </a:p>
          <a:p>
            <a:r>
              <a:rPr lang="en-US" dirty="0"/>
              <a:t>Access control and authentication</a:t>
            </a:r>
          </a:p>
          <a:p>
            <a:r>
              <a:rPr lang="en-US" dirty="0"/>
              <a:t>Encryption and monitoring</a:t>
            </a:r>
          </a:p>
          <a:p>
            <a:r>
              <a:rPr lang="en-US" dirty="0"/>
              <a:t>Protection against data loss or cyber threats</a:t>
            </a:r>
          </a:p>
          <a:p>
            <a:pPr marL="0" indent="0">
              <a:buNone/>
            </a:pPr>
            <a:endParaRPr lang="en-IN" dirty="0"/>
          </a:p>
        </p:txBody>
      </p:sp>
    </p:spTree>
    <p:extLst>
      <p:ext uri="{BB962C8B-B14F-4D97-AF65-F5344CB8AC3E}">
        <p14:creationId xmlns:p14="http://schemas.microsoft.com/office/powerpoint/2010/main" val="291024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9B8F1F-FE5C-1DC5-C1ED-FAD1A61B3006}"/>
              </a:ext>
            </a:extLst>
          </p:cNvPr>
          <p:cNvSpPr>
            <a:spLocks noGrp="1"/>
          </p:cNvSpPr>
          <p:nvPr>
            <p:ph idx="1"/>
          </p:nvPr>
        </p:nvSpPr>
        <p:spPr>
          <a:xfrm>
            <a:off x="838200" y="508000"/>
            <a:ext cx="10515600" cy="5668963"/>
          </a:xfrm>
        </p:spPr>
        <p:txBody>
          <a:bodyPr>
            <a:normAutofit/>
          </a:bodyPr>
          <a:lstStyle/>
          <a:p>
            <a:pPr marL="0" indent="0">
              <a:buNone/>
            </a:pPr>
            <a:r>
              <a:rPr lang="en-US" b="1" u="sng" dirty="0"/>
              <a:t>  Data Archiving and Disposal</a:t>
            </a:r>
          </a:p>
          <a:p>
            <a:pPr marL="0" indent="0">
              <a:buNone/>
            </a:pPr>
            <a:r>
              <a:rPr lang="en-US" b="1" dirty="0"/>
              <a:t> Data Archiving</a:t>
            </a:r>
            <a:endParaRPr lang="en-US" dirty="0"/>
          </a:p>
          <a:p>
            <a:r>
              <a:rPr lang="en-US" dirty="0"/>
              <a:t>Older or less-used data is moved to low-cost storage</a:t>
            </a:r>
          </a:p>
          <a:p>
            <a:r>
              <a:rPr lang="en-US" dirty="0"/>
              <a:t>Maintains data for historical analysis or compliance</a:t>
            </a:r>
          </a:p>
          <a:p>
            <a:pPr marL="0" indent="0">
              <a:buNone/>
            </a:pPr>
            <a:r>
              <a:rPr lang="en-US" b="1" dirty="0"/>
              <a:t> Data Retention Policies</a:t>
            </a:r>
            <a:endParaRPr lang="en-US" dirty="0"/>
          </a:p>
          <a:p>
            <a:r>
              <a:rPr lang="en-US" dirty="0"/>
              <a:t>Define how long data should be kept</a:t>
            </a:r>
          </a:p>
          <a:p>
            <a:r>
              <a:rPr lang="en-US" dirty="0"/>
              <a:t>Based on legal, business, and regulatory needs</a:t>
            </a:r>
          </a:p>
          <a:p>
            <a:r>
              <a:rPr lang="en-US" b="1" dirty="0"/>
              <a:t>Data Disposal</a:t>
            </a:r>
            <a:endParaRPr lang="en-US" dirty="0"/>
          </a:p>
          <a:p>
            <a:r>
              <a:rPr lang="en-US" dirty="0"/>
              <a:t>Secure deletion or destruction of unnecessary data</a:t>
            </a:r>
          </a:p>
          <a:p>
            <a:r>
              <a:rPr lang="en-US" dirty="0"/>
              <a:t>Prevents misuse and reduces storage costs</a:t>
            </a:r>
          </a:p>
          <a:p>
            <a:pPr marL="0" indent="0">
              <a:buNone/>
            </a:pPr>
            <a:endParaRPr lang="en-IN" dirty="0"/>
          </a:p>
        </p:txBody>
      </p:sp>
    </p:spTree>
    <p:extLst>
      <p:ext uri="{BB962C8B-B14F-4D97-AF65-F5344CB8AC3E}">
        <p14:creationId xmlns:p14="http://schemas.microsoft.com/office/powerpoint/2010/main" val="1934365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ED604-9089-DF94-FA3C-7C2B37C5FC5D}"/>
              </a:ext>
            </a:extLst>
          </p:cNvPr>
          <p:cNvSpPr>
            <a:spLocks noGrp="1"/>
          </p:cNvSpPr>
          <p:nvPr>
            <p:ph type="title"/>
          </p:nvPr>
        </p:nvSpPr>
        <p:spPr>
          <a:xfrm>
            <a:off x="741680" y="365125"/>
            <a:ext cx="10612120" cy="935355"/>
          </a:xfrm>
        </p:spPr>
        <p:txBody>
          <a:bodyPr>
            <a:normAutofit/>
          </a:bodyPr>
          <a:lstStyle/>
          <a:p>
            <a:r>
              <a:rPr lang="en-IN" sz="4000" b="1" dirty="0">
                <a:latin typeface="+mn-lt"/>
              </a:rPr>
              <a:t>2.4 Data Quality and Integrity</a:t>
            </a:r>
          </a:p>
        </p:txBody>
      </p:sp>
      <p:sp>
        <p:nvSpPr>
          <p:cNvPr id="3" name="Content Placeholder 2">
            <a:extLst>
              <a:ext uri="{FF2B5EF4-FFF2-40B4-BE49-F238E27FC236}">
                <a16:creationId xmlns:a16="http://schemas.microsoft.com/office/drawing/2014/main" id="{58689454-DFD8-0C84-2349-F3CBB390FA88}"/>
              </a:ext>
            </a:extLst>
          </p:cNvPr>
          <p:cNvSpPr>
            <a:spLocks noGrp="1"/>
          </p:cNvSpPr>
          <p:nvPr>
            <p:ph idx="1"/>
          </p:nvPr>
        </p:nvSpPr>
        <p:spPr>
          <a:xfrm>
            <a:off x="838200" y="1300480"/>
            <a:ext cx="10515600" cy="5080000"/>
          </a:xfrm>
        </p:spPr>
        <p:txBody>
          <a:bodyPr/>
          <a:lstStyle/>
          <a:p>
            <a:pPr marL="0" indent="0">
              <a:buNone/>
            </a:pPr>
            <a:r>
              <a:rPr lang="en-US" b="1" dirty="0"/>
              <a:t>Data Quality</a:t>
            </a:r>
            <a:r>
              <a:rPr lang="en-US" dirty="0"/>
              <a:t> refers to the accuracy, completeness, consistency, and reliability of data used for analysis and decision-making.</a:t>
            </a:r>
            <a:br>
              <a:rPr lang="en-US" dirty="0"/>
            </a:br>
            <a:r>
              <a:rPr lang="en-US" b="1" dirty="0"/>
              <a:t>Data Integrity</a:t>
            </a:r>
            <a:r>
              <a:rPr lang="en-US" dirty="0"/>
              <a:t> ensures that data remains correct, secure, and unchanged throughout its lifecycle.</a:t>
            </a:r>
          </a:p>
          <a:p>
            <a:pPr marL="0" indent="0">
              <a:buNone/>
            </a:pPr>
            <a:r>
              <a:rPr lang="en-US" b="1" dirty="0"/>
              <a:t>Key Dimensions of Data Quality</a:t>
            </a:r>
            <a:endParaRPr lang="en-US" dirty="0"/>
          </a:p>
          <a:p>
            <a:r>
              <a:rPr lang="en-US" b="1" dirty="0"/>
              <a:t>Accuracy</a:t>
            </a:r>
            <a:r>
              <a:rPr lang="en-US" dirty="0"/>
              <a:t> – Data is correct and error-free</a:t>
            </a:r>
          </a:p>
          <a:p>
            <a:r>
              <a:rPr lang="en-US" b="1" dirty="0"/>
              <a:t>Completeness</a:t>
            </a:r>
            <a:r>
              <a:rPr lang="en-US" dirty="0"/>
              <a:t> – No missing or incomplete information</a:t>
            </a:r>
          </a:p>
          <a:p>
            <a:r>
              <a:rPr lang="en-US" b="1" dirty="0"/>
              <a:t>Consistency</a:t>
            </a:r>
            <a:r>
              <a:rPr lang="en-US" dirty="0"/>
              <a:t> – Same data across systems and sources</a:t>
            </a:r>
          </a:p>
          <a:p>
            <a:r>
              <a:rPr lang="en-US" b="1" dirty="0"/>
              <a:t>Timeliness</a:t>
            </a:r>
            <a:r>
              <a:rPr lang="en-US" dirty="0"/>
              <a:t> – Data is up-to-date and available when needed</a:t>
            </a:r>
          </a:p>
          <a:p>
            <a:r>
              <a:rPr lang="en-US" b="1" dirty="0"/>
              <a:t>Validity</a:t>
            </a:r>
            <a:r>
              <a:rPr lang="en-US" dirty="0"/>
              <a:t> – Data follows required formats and rules</a:t>
            </a:r>
          </a:p>
          <a:p>
            <a:pPr marL="0" indent="0">
              <a:buNone/>
            </a:pPr>
            <a:endParaRPr lang="en-IN" dirty="0"/>
          </a:p>
        </p:txBody>
      </p:sp>
    </p:spTree>
    <p:extLst>
      <p:ext uri="{BB962C8B-B14F-4D97-AF65-F5344CB8AC3E}">
        <p14:creationId xmlns:p14="http://schemas.microsoft.com/office/powerpoint/2010/main" val="3577396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21C662-6F74-D32E-3AA7-53E999C25844}"/>
              </a:ext>
            </a:extLst>
          </p:cNvPr>
          <p:cNvSpPr>
            <a:spLocks noGrp="1"/>
          </p:cNvSpPr>
          <p:nvPr>
            <p:ph idx="1"/>
          </p:nvPr>
        </p:nvSpPr>
        <p:spPr>
          <a:xfrm>
            <a:off x="838200" y="538480"/>
            <a:ext cx="10515600" cy="5638483"/>
          </a:xfrm>
        </p:spPr>
        <p:txBody>
          <a:bodyPr/>
          <a:lstStyle/>
          <a:p>
            <a:pPr marL="0" indent="0">
              <a:buNone/>
            </a:pPr>
            <a:r>
              <a:rPr lang="en-US" b="1" dirty="0"/>
              <a:t> Maintaining Data Integrity</a:t>
            </a:r>
            <a:endParaRPr lang="en-US" dirty="0"/>
          </a:p>
          <a:p>
            <a:r>
              <a:rPr lang="en-US" dirty="0"/>
              <a:t>Data validation and error checks</a:t>
            </a:r>
          </a:p>
          <a:p>
            <a:r>
              <a:rPr lang="en-US" dirty="0"/>
              <a:t>Access control and user authentication</a:t>
            </a:r>
          </a:p>
          <a:p>
            <a:r>
              <a:rPr lang="en-US" dirty="0"/>
              <a:t>Regular backups and recovery systems</a:t>
            </a:r>
          </a:p>
          <a:p>
            <a:r>
              <a:rPr lang="en-US" dirty="0"/>
              <a:t>Encryption and protection from unauthorized changes</a:t>
            </a:r>
          </a:p>
          <a:p>
            <a:r>
              <a:rPr lang="en-US" dirty="0"/>
              <a:t>Audit trails to track data modifications</a:t>
            </a:r>
          </a:p>
          <a:p>
            <a:pPr marL="0" indent="0">
              <a:buNone/>
            </a:pPr>
            <a:r>
              <a:rPr lang="en-US" b="1" dirty="0"/>
              <a:t> Importance</a:t>
            </a:r>
            <a:endParaRPr lang="en-US" dirty="0"/>
          </a:p>
          <a:p>
            <a:r>
              <a:rPr lang="en-US" dirty="0"/>
              <a:t>Improves decision-making and analytics</a:t>
            </a:r>
          </a:p>
          <a:p>
            <a:r>
              <a:rPr lang="en-US" dirty="0"/>
              <a:t>Builds trust in business reports</a:t>
            </a:r>
          </a:p>
          <a:p>
            <a:r>
              <a:rPr lang="en-US" dirty="0"/>
              <a:t>Ensures regulatory compliance</a:t>
            </a:r>
          </a:p>
          <a:p>
            <a:r>
              <a:rPr lang="en-US" dirty="0"/>
              <a:t>Reduces operational errors and risks</a:t>
            </a:r>
          </a:p>
          <a:p>
            <a:pPr marL="0" indent="0">
              <a:buNone/>
            </a:pPr>
            <a:endParaRPr lang="en-IN" dirty="0"/>
          </a:p>
        </p:txBody>
      </p:sp>
    </p:spTree>
    <p:extLst>
      <p:ext uri="{BB962C8B-B14F-4D97-AF65-F5344CB8AC3E}">
        <p14:creationId xmlns:p14="http://schemas.microsoft.com/office/powerpoint/2010/main" val="918804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BFA2A-8E62-8725-AA61-2DEE14E80ADC}"/>
              </a:ext>
            </a:extLst>
          </p:cNvPr>
          <p:cNvSpPr>
            <a:spLocks noGrp="1"/>
          </p:cNvSpPr>
          <p:nvPr>
            <p:ph type="title"/>
          </p:nvPr>
        </p:nvSpPr>
        <p:spPr>
          <a:xfrm>
            <a:off x="1031240" y="1970405"/>
            <a:ext cx="10515600" cy="1325563"/>
          </a:xfrm>
        </p:spPr>
        <p:txBody>
          <a:bodyPr/>
          <a:lstStyle/>
          <a:p>
            <a:r>
              <a:rPr lang="en-IN" b="1" dirty="0">
                <a:latin typeface="+mn-lt"/>
              </a:rPr>
              <a:t>3. Introduction to Business Analyst.</a:t>
            </a:r>
          </a:p>
        </p:txBody>
      </p:sp>
    </p:spTree>
    <p:extLst>
      <p:ext uri="{BB962C8B-B14F-4D97-AF65-F5344CB8AC3E}">
        <p14:creationId xmlns:p14="http://schemas.microsoft.com/office/powerpoint/2010/main" val="2079568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4C8F-5CDE-2699-5848-9C47149C35D1}"/>
              </a:ext>
            </a:extLst>
          </p:cNvPr>
          <p:cNvSpPr>
            <a:spLocks noGrp="1"/>
          </p:cNvSpPr>
          <p:nvPr>
            <p:ph type="title"/>
          </p:nvPr>
        </p:nvSpPr>
        <p:spPr>
          <a:xfrm>
            <a:off x="838200" y="365125"/>
            <a:ext cx="10515600" cy="1057275"/>
          </a:xfrm>
        </p:spPr>
        <p:txBody>
          <a:bodyPr>
            <a:normAutofit fontScale="90000"/>
          </a:bodyPr>
          <a:lstStyle/>
          <a:p>
            <a:r>
              <a:rPr lang="en-IN" sz="4000" b="1" dirty="0">
                <a:latin typeface="+mn-lt"/>
              </a:rPr>
              <a:t>3.1 Definition and Responsibilities of a Business     Analyst.</a:t>
            </a:r>
          </a:p>
        </p:txBody>
      </p:sp>
      <p:sp>
        <p:nvSpPr>
          <p:cNvPr id="3" name="Content Placeholder 2">
            <a:extLst>
              <a:ext uri="{FF2B5EF4-FFF2-40B4-BE49-F238E27FC236}">
                <a16:creationId xmlns:a16="http://schemas.microsoft.com/office/drawing/2014/main" id="{4062DDFD-AA6E-BB72-2309-941529B1C118}"/>
              </a:ext>
            </a:extLst>
          </p:cNvPr>
          <p:cNvSpPr>
            <a:spLocks noGrp="1"/>
          </p:cNvSpPr>
          <p:nvPr>
            <p:ph idx="1"/>
          </p:nvPr>
        </p:nvSpPr>
        <p:spPr>
          <a:xfrm>
            <a:off x="838200" y="1422400"/>
            <a:ext cx="10515600" cy="4754563"/>
          </a:xfrm>
        </p:spPr>
        <p:txBody>
          <a:bodyPr>
            <a:normAutofit/>
          </a:bodyPr>
          <a:lstStyle/>
          <a:p>
            <a:pPr marL="0" indent="0">
              <a:buNone/>
            </a:pPr>
            <a:r>
              <a:rPr lang="en-US" b="1" dirty="0"/>
              <a:t> Definition of a Business Analyst</a:t>
            </a:r>
          </a:p>
          <a:p>
            <a:r>
              <a:rPr lang="en-US" b="1" dirty="0"/>
              <a:t>Who is a Business Analyst (BA)?</a:t>
            </a:r>
            <a:br>
              <a:rPr lang="en-US" dirty="0"/>
            </a:br>
            <a:r>
              <a:rPr lang="en-US" dirty="0"/>
              <a:t>A Business Analyst is a professional who identifies business needs and finds technology or process-based solutions to improve organizational performance.</a:t>
            </a:r>
          </a:p>
          <a:p>
            <a:pPr marL="0" indent="0">
              <a:buNone/>
            </a:pPr>
            <a:r>
              <a:rPr lang="en-US" b="1" dirty="0"/>
              <a:t> Key Role</a:t>
            </a:r>
            <a:endParaRPr lang="en-US" dirty="0"/>
          </a:p>
          <a:p>
            <a:r>
              <a:rPr lang="en-US" dirty="0"/>
              <a:t>Acts as a bridge between business stakeholders and the IT/technical team</a:t>
            </a:r>
          </a:p>
          <a:p>
            <a:r>
              <a:rPr lang="en-US" dirty="0"/>
              <a:t>Understands business problems and translates them into clear requirements</a:t>
            </a:r>
          </a:p>
          <a:p>
            <a:r>
              <a:rPr lang="en-US" dirty="0"/>
              <a:t>Helps organizations improve efficiency, productivity, and decision-making</a:t>
            </a:r>
          </a:p>
          <a:p>
            <a:pPr marL="0" indent="0">
              <a:buNone/>
            </a:pPr>
            <a:endParaRPr lang="en-IN" dirty="0"/>
          </a:p>
        </p:txBody>
      </p:sp>
    </p:spTree>
    <p:extLst>
      <p:ext uri="{BB962C8B-B14F-4D97-AF65-F5344CB8AC3E}">
        <p14:creationId xmlns:p14="http://schemas.microsoft.com/office/powerpoint/2010/main" val="236641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171B7-5BE9-D458-920B-C70190CCF53E}"/>
              </a:ext>
            </a:extLst>
          </p:cNvPr>
          <p:cNvSpPr>
            <a:spLocks noGrp="1"/>
          </p:cNvSpPr>
          <p:nvPr>
            <p:ph idx="1"/>
          </p:nvPr>
        </p:nvSpPr>
        <p:spPr>
          <a:xfrm>
            <a:off x="838200" y="518160"/>
            <a:ext cx="10515600" cy="5658803"/>
          </a:xfrm>
        </p:spPr>
        <p:txBody>
          <a:bodyPr/>
          <a:lstStyle/>
          <a:p>
            <a:pPr marL="0" indent="0">
              <a:buNone/>
            </a:pPr>
            <a:r>
              <a:rPr lang="en-US" b="1" dirty="0"/>
              <a:t> Core Objectives</a:t>
            </a:r>
            <a:endParaRPr lang="en-US" dirty="0"/>
          </a:p>
          <a:p>
            <a:r>
              <a:rPr lang="en-US" dirty="0"/>
              <a:t>Analyze business processes and workflows</a:t>
            </a:r>
          </a:p>
          <a:p>
            <a:r>
              <a:rPr lang="en-US" dirty="0"/>
              <a:t>Identify gaps, risks, and improvement opportunities</a:t>
            </a:r>
          </a:p>
          <a:p>
            <a:r>
              <a:rPr lang="en-US" dirty="0"/>
              <a:t>Support data-driven decision-making</a:t>
            </a:r>
          </a:p>
          <a:p>
            <a:r>
              <a:rPr lang="en-US" dirty="0"/>
              <a:t>Ensure solutions align with business goals and strategy</a:t>
            </a:r>
          </a:p>
          <a:p>
            <a:pPr marL="0" indent="0">
              <a:buNone/>
            </a:pPr>
            <a:endParaRPr lang="en-IN" dirty="0"/>
          </a:p>
        </p:txBody>
      </p:sp>
    </p:spTree>
    <p:extLst>
      <p:ext uri="{BB962C8B-B14F-4D97-AF65-F5344CB8AC3E}">
        <p14:creationId xmlns:p14="http://schemas.microsoft.com/office/powerpoint/2010/main" val="2146856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057F8F-E2F0-F140-A74D-2843A0A2CABC}"/>
              </a:ext>
            </a:extLst>
          </p:cNvPr>
          <p:cNvSpPr>
            <a:spLocks noGrp="1"/>
          </p:cNvSpPr>
          <p:nvPr>
            <p:ph idx="1"/>
          </p:nvPr>
        </p:nvSpPr>
        <p:spPr>
          <a:xfrm>
            <a:off x="838200" y="538480"/>
            <a:ext cx="10515600" cy="5638483"/>
          </a:xfrm>
        </p:spPr>
        <p:txBody>
          <a:bodyPr>
            <a:normAutofit fontScale="92500" lnSpcReduction="10000"/>
          </a:bodyPr>
          <a:lstStyle/>
          <a:p>
            <a:pPr marL="0" indent="0">
              <a:buNone/>
            </a:pPr>
            <a:r>
              <a:rPr lang="en-US" b="1" dirty="0"/>
              <a:t> </a:t>
            </a:r>
            <a:r>
              <a:rPr lang="en-US" b="1" u="sng" dirty="0"/>
              <a:t>Responsibilities of a Business Analyst</a:t>
            </a:r>
          </a:p>
          <a:p>
            <a:pPr marL="0" indent="0">
              <a:buNone/>
            </a:pPr>
            <a:r>
              <a:rPr lang="en-US" b="1" dirty="0"/>
              <a:t> Requirement Management</a:t>
            </a:r>
            <a:endParaRPr lang="en-US" dirty="0"/>
          </a:p>
          <a:p>
            <a:r>
              <a:rPr lang="en-US" dirty="0"/>
              <a:t>Gather, analyze, and document business requirements</a:t>
            </a:r>
          </a:p>
          <a:p>
            <a:r>
              <a:rPr lang="en-US" dirty="0"/>
              <a:t>Create functional specifications and use cases</a:t>
            </a:r>
          </a:p>
          <a:p>
            <a:pPr marL="0" indent="0">
              <a:buNone/>
            </a:pPr>
            <a:r>
              <a:rPr lang="en-US" b="1" dirty="0"/>
              <a:t> Stakeholder Communication</a:t>
            </a:r>
            <a:endParaRPr lang="en-US" dirty="0"/>
          </a:p>
          <a:p>
            <a:r>
              <a:rPr lang="en-US" dirty="0"/>
              <a:t>Interact with clients, managers, and technical teams</a:t>
            </a:r>
          </a:p>
          <a:p>
            <a:r>
              <a:rPr lang="en-US" dirty="0"/>
              <a:t>Facilitate meetings, workshops, and presentations</a:t>
            </a:r>
          </a:p>
          <a:p>
            <a:pPr marL="0" indent="0">
              <a:buNone/>
            </a:pPr>
            <a:r>
              <a:rPr lang="en-US" b="1" dirty="0"/>
              <a:t>Analysis &amp; Solution Design</a:t>
            </a:r>
            <a:endParaRPr lang="en-US" dirty="0"/>
          </a:p>
          <a:p>
            <a:r>
              <a:rPr lang="en-US" dirty="0"/>
              <a:t>Perform data analysis and process modeling</a:t>
            </a:r>
          </a:p>
          <a:p>
            <a:r>
              <a:rPr lang="en-US" dirty="0"/>
              <a:t>Recommend system or process improvements</a:t>
            </a:r>
          </a:p>
          <a:p>
            <a:pPr marL="0" indent="0">
              <a:buNone/>
            </a:pPr>
            <a:r>
              <a:rPr lang="en-US" b="1" dirty="0"/>
              <a:t> Support &amp; Evaluation</a:t>
            </a:r>
            <a:endParaRPr lang="en-US" dirty="0"/>
          </a:p>
          <a:p>
            <a:r>
              <a:rPr lang="en-US" dirty="0"/>
              <a:t>Assist in testing and implementation of solutions</a:t>
            </a:r>
          </a:p>
          <a:p>
            <a:r>
              <a:rPr lang="en-US" dirty="0"/>
              <a:t>Monitor outcomes and ensure business objectives are met</a:t>
            </a:r>
          </a:p>
          <a:p>
            <a:pPr marL="0" indent="0">
              <a:buNone/>
            </a:pPr>
            <a:r>
              <a:rPr lang="en-US" b="1" dirty="0"/>
              <a:t> </a:t>
            </a:r>
            <a:endParaRPr lang="en-US" dirty="0"/>
          </a:p>
          <a:p>
            <a:pPr marL="0" indent="0">
              <a:buNone/>
            </a:pPr>
            <a:endParaRPr lang="en-IN" dirty="0"/>
          </a:p>
        </p:txBody>
      </p:sp>
    </p:spTree>
    <p:extLst>
      <p:ext uri="{BB962C8B-B14F-4D97-AF65-F5344CB8AC3E}">
        <p14:creationId xmlns:p14="http://schemas.microsoft.com/office/powerpoint/2010/main" val="1895230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C6523-266D-DF0D-284F-B7E2D96CA56D}"/>
              </a:ext>
            </a:extLst>
          </p:cNvPr>
          <p:cNvSpPr>
            <a:spLocks noGrp="1"/>
          </p:cNvSpPr>
          <p:nvPr>
            <p:ph type="title"/>
          </p:nvPr>
        </p:nvSpPr>
        <p:spPr/>
        <p:txBody>
          <a:bodyPr>
            <a:normAutofit/>
          </a:bodyPr>
          <a:lstStyle/>
          <a:p>
            <a:r>
              <a:rPr lang="en-US" sz="4000" b="1" dirty="0">
                <a:latin typeface="+mn-lt"/>
              </a:rPr>
              <a:t>3.2 Key Skills for Business Analysts</a:t>
            </a:r>
            <a:endParaRPr lang="en-IN" sz="4000" b="1" dirty="0">
              <a:latin typeface="+mn-lt"/>
            </a:endParaRPr>
          </a:p>
        </p:txBody>
      </p:sp>
      <p:sp>
        <p:nvSpPr>
          <p:cNvPr id="3" name="Content Placeholder 2">
            <a:extLst>
              <a:ext uri="{FF2B5EF4-FFF2-40B4-BE49-F238E27FC236}">
                <a16:creationId xmlns:a16="http://schemas.microsoft.com/office/drawing/2014/main" id="{25CEA80F-FF3A-FF9D-0EC2-86DA34B9FD3B}"/>
              </a:ext>
            </a:extLst>
          </p:cNvPr>
          <p:cNvSpPr>
            <a:spLocks noGrp="1"/>
          </p:cNvSpPr>
          <p:nvPr>
            <p:ph idx="1"/>
          </p:nvPr>
        </p:nvSpPr>
        <p:spPr>
          <a:xfrm>
            <a:off x="838200" y="1371600"/>
            <a:ext cx="10515600" cy="4805363"/>
          </a:xfrm>
        </p:spPr>
        <p:txBody>
          <a:bodyPr>
            <a:normAutofit fontScale="92500" lnSpcReduction="20000"/>
          </a:bodyPr>
          <a:lstStyle/>
          <a:p>
            <a:pPr marL="0" indent="0">
              <a:buNone/>
            </a:pPr>
            <a:r>
              <a:rPr lang="en-US" b="1" dirty="0"/>
              <a:t>1. Analytical &amp; Problem-Solving Skills</a:t>
            </a:r>
            <a:endParaRPr lang="en-US" dirty="0"/>
          </a:p>
          <a:p>
            <a:r>
              <a:rPr lang="en-US" dirty="0"/>
              <a:t>Analyze business needs, data, and processes</a:t>
            </a:r>
          </a:p>
          <a:p>
            <a:r>
              <a:rPr lang="en-US" dirty="0"/>
              <a:t>Identify gaps, risks, and improvement opportunities</a:t>
            </a:r>
          </a:p>
          <a:p>
            <a:r>
              <a:rPr lang="en-US" dirty="0"/>
              <a:t>Provide practical and data-driven solutions</a:t>
            </a:r>
          </a:p>
          <a:p>
            <a:pPr marL="0" indent="0">
              <a:buNone/>
            </a:pPr>
            <a:r>
              <a:rPr lang="en-US" b="1" dirty="0"/>
              <a:t>2. Communication Skills</a:t>
            </a:r>
            <a:endParaRPr lang="en-US" dirty="0"/>
          </a:p>
          <a:p>
            <a:r>
              <a:rPr lang="en-US" dirty="0"/>
              <a:t>Clear verbal and written communication</a:t>
            </a:r>
          </a:p>
          <a:p>
            <a:r>
              <a:rPr lang="en-US" dirty="0"/>
              <a:t>Translate business requirements into technical specifications</a:t>
            </a:r>
          </a:p>
          <a:p>
            <a:r>
              <a:rPr lang="en-US" dirty="0"/>
              <a:t>Prepare reports, documents, and presentations</a:t>
            </a:r>
          </a:p>
          <a:p>
            <a:pPr marL="0" indent="0">
              <a:buNone/>
            </a:pPr>
            <a:r>
              <a:rPr lang="en-US" b="1" dirty="0"/>
              <a:t>3. Requirement Gathering &amp; Management</a:t>
            </a:r>
            <a:endParaRPr lang="en-US" dirty="0"/>
          </a:p>
          <a:p>
            <a:r>
              <a:rPr lang="en-US" dirty="0"/>
              <a:t>Conduct interviews, workshops, and stakeholder meetings</a:t>
            </a:r>
          </a:p>
          <a:p>
            <a:r>
              <a:rPr lang="en-US" dirty="0"/>
              <a:t>Create Business Requirement Documents (BRD) and Functional Requirement Documents (FRD)</a:t>
            </a:r>
          </a:p>
          <a:p>
            <a:r>
              <a:rPr lang="en-US" dirty="0"/>
              <a:t>Manage requirement changes effectively</a:t>
            </a:r>
          </a:p>
          <a:p>
            <a:pPr marL="0" indent="0">
              <a:buNone/>
            </a:pPr>
            <a:endParaRPr lang="en-IN" dirty="0"/>
          </a:p>
        </p:txBody>
      </p:sp>
    </p:spTree>
    <p:extLst>
      <p:ext uri="{BB962C8B-B14F-4D97-AF65-F5344CB8AC3E}">
        <p14:creationId xmlns:p14="http://schemas.microsoft.com/office/powerpoint/2010/main" val="32555681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5418A-5B5A-2675-E6B5-16D4955EF73B}"/>
              </a:ext>
            </a:extLst>
          </p:cNvPr>
          <p:cNvSpPr>
            <a:spLocks noGrp="1"/>
          </p:cNvSpPr>
          <p:nvPr>
            <p:ph idx="1"/>
          </p:nvPr>
        </p:nvSpPr>
        <p:spPr>
          <a:xfrm>
            <a:off x="838200" y="386080"/>
            <a:ext cx="10515600" cy="5790883"/>
          </a:xfrm>
        </p:spPr>
        <p:txBody>
          <a:bodyPr>
            <a:normAutofit fontScale="92500" lnSpcReduction="10000"/>
          </a:bodyPr>
          <a:lstStyle/>
          <a:p>
            <a:pPr marL="0" indent="0">
              <a:buNone/>
            </a:pPr>
            <a:r>
              <a:rPr lang="en-US" b="1" dirty="0"/>
              <a:t>4. Business Process Knowledge</a:t>
            </a:r>
            <a:endParaRPr lang="en-US" dirty="0"/>
          </a:p>
          <a:p>
            <a:r>
              <a:rPr lang="en-US" dirty="0"/>
              <a:t>Understand organizational workflows and operations</a:t>
            </a:r>
          </a:p>
          <a:p>
            <a:r>
              <a:rPr lang="en-US" dirty="0"/>
              <a:t>Perform process modeling (flowcharts, BPMN)</a:t>
            </a:r>
          </a:p>
          <a:p>
            <a:r>
              <a:rPr lang="en-US" dirty="0"/>
              <a:t>Align solutions with business goals and strategy</a:t>
            </a:r>
          </a:p>
          <a:p>
            <a:pPr marL="0" indent="0">
              <a:buNone/>
            </a:pPr>
            <a:r>
              <a:rPr lang="en-US" b="1" dirty="0"/>
              <a:t>5. Technical Understanding</a:t>
            </a:r>
            <a:endParaRPr lang="en-US" dirty="0"/>
          </a:p>
          <a:p>
            <a:r>
              <a:rPr lang="en-US" dirty="0"/>
              <a:t>Basic knowledge of databases and SQL</a:t>
            </a:r>
          </a:p>
          <a:p>
            <a:r>
              <a:rPr lang="en-US" dirty="0"/>
              <a:t>Familiarity with Excel, Power BI, or Tableau</a:t>
            </a:r>
          </a:p>
          <a:p>
            <a:r>
              <a:rPr lang="en-US" dirty="0"/>
              <a:t>Understanding of software development lifecycle (SDLC) and Agile methods</a:t>
            </a:r>
          </a:p>
          <a:p>
            <a:pPr marL="0" indent="0">
              <a:buNone/>
            </a:pPr>
            <a:r>
              <a:rPr lang="en-US" b="1" dirty="0"/>
              <a:t>6. Stakeholder &amp; Team Collaboration</a:t>
            </a:r>
            <a:endParaRPr lang="en-US" dirty="0"/>
          </a:p>
          <a:p>
            <a:r>
              <a:rPr lang="en-US" dirty="0"/>
              <a:t>Work with business users, developers, and managers</a:t>
            </a:r>
          </a:p>
          <a:p>
            <a:r>
              <a:rPr lang="en-US" dirty="0"/>
              <a:t>Manage expectations and resolve conflicts</a:t>
            </a:r>
          </a:p>
          <a:p>
            <a:r>
              <a:rPr lang="en-US" dirty="0"/>
              <a:t>Build strong professional relationships</a:t>
            </a:r>
          </a:p>
          <a:p>
            <a:r>
              <a:rPr lang="en-US" b="1" dirty="0"/>
              <a:t>Conclusion:</a:t>
            </a:r>
            <a:br>
              <a:rPr lang="en-US" dirty="0"/>
            </a:br>
            <a:r>
              <a:rPr lang="en-US" dirty="0"/>
              <a:t>A successful Business Analyst combines business knowledge, analytical thinking,</a:t>
            </a:r>
          </a:p>
          <a:p>
            <a:pPr marL="0" indent="0">
              <a:buNone/>
            </a:pPr>
            <a:r>
              <a:rPr lang="en-US" dirty="0"/>
              <a:t>    communication, and technical understanding to deliver effective solutions.</a:t>
            </a:r>
          </a:p>
          <a:p>
            <a:pPr marL="0" indent="0">
              <a:buNone/>
            </a:pPr>
            <a:endParaRPr lang="en-IN" dirty="0"/>
          </a:p>
        </p:txBody>
      </p:sp>
    </p:spTree>
    <p:extLst>
      <p:ext uri="{BB962C8B-B14F-4D97-AF65-F5344CB8AC3E}">
        <p14:creationId xmlns:p14="http://schemas.microsoft.com/office/powerpoint/2010/main" val="1308709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B199-35D0-4B2C-ABF3-5EC821C91721}"/>
              </a:ext>
            </a:extLst>
          </p:cNvPr>
          <p:cNvSpPr>
            <a:spLocks noGrp="1"/>
          </p:cNvSpPr>
          <p:nvPr>
            <p:ph type="title"/>
          </p:nvPr>
        </p:nvSpPr>
        <p:spPr>
          <a:xfrm>
            <a:off x="838200" y="365125"/>
            <a:ext cx="10515600" cy="1006475"/>
          </a:xfrm>
        </p:spPr>
        <p:txBody>
          <a:bodyPr>
            <a:normAutofit/>
          </a:bodyPr>
          <a:lstStyle/>
          <a:p>
            <a:r>
              <a:rPr lang="en-IN" sz="4000" b="1" dirty="0">
                <a:latin typeface="+mn-lt"/>
              </a:rPr>
              <a:t>3.3 Business Analysis </a:t>
            </a:r>
            <a:r>
              <a:rPr lang="en-IN" sz="4000" b="1" dirty="0" err="1">
                <a:latin typeface="+mn-lt"/>
              </a:rPr>
              <a:t>Methodogies</a:t>
            </a:r>
            <a:endParaRPr lang="en-IN" sz="4000" b="1" dirty="0">
              <a:latin typeface="+mn-lt"/>
            </a:endParaRPr>
          </a:p>
        </p:txBody>
      </p:sp>
      <p:sp>
        <p:nvSpPr>
          <p:cNvPr id="3" name="Content Placeholder 2">
            <a:extLst>
              <a:ext uri="{FF2B5EF4-FFF2-40B4-BE49-F238E27FC236}">
                <a16:creationId xmlns:a16="http://schemas.microsoft.com/office/drawing/2014/main" id="{D191411D-7F24-FF0E-A771-5E33B8889092}"/>
              </a:ext>
            </a:extLst>
          </p:cNvPr>
          <p:cNvSpPr>
            <a:spLocks noGrp="1"/>
          </p:cNvSpPr>
          <p:nvPr>
            <p:ph idx="1"/>
          </p:nvPr>
        </p:nvSpPr>
        <p:spPr>
          <a:xfrm>
            <a:off x="838200" y="1371600"/>
            <a:ext cx="10515600" cy="4805363"/>
          </a:xfrm>
        </p:spPr>
        <p:txBody>
          <a:bodyPr/>
          <a:lstStyle/>
          <a:p>
            <a:pPr marL="0" indent="0">
              <a:buNone/>
            </a:pPr>
            <a:r>
              <a:rPr lang="en-US" b="1" dirty="0"/>
              <a:t> Introduction to Business Analysis Methodologies</a:t>
            </a:r>
          </a:p>
          <a:p>
            <a:r>
              <a:rPr lang="en-US" b="1" dirty="0"/>
              <a:t>What are Business Analysis Methodologies?</a:t>
            </a:r>
            <a:br>
              <a:rPr lang="en-US" dirty="0"/>
            </a:br>
            <a:r>
              <a:rPr lang="en-US" dirty="0"/>
              <a:t>Business Analysis methodologies are structured approaches used by Business Analysts to identify business needs, gather requirements, and deliver effective solutions.</a:t>
            </a:r>
          </a:p>
          <a:p>
            <a:pPr marL="0" indent="0">
              <a:buNone/>
            </a:pPr>
            <a:r>
              <a:rPr lang="en-US" b="1" dirty="0"/>
              <a:t> Purpose</a:t>
            </a:r>
            <a:endParaRPr lang="en-US" dirty="0"/>
          </a:p>
          <a:p>
            <a:r>
              <a:rPr lang="en-US" dirty="0"/>
              <a:t>Improve business processes</a:t>
            </a:r>
          </a:p>
          <a:p>
            <a:r>
              <a:rPr lang="en-US" dirty="0"/>
              <a:t>Ensure clear and accurate requirements</a:t>
            </a:r>
          </a:p>
          <a:p>
            <a:r>
              <a:rPr lang="en-US" dirty="0"/>
              <a:t>Reduce project risks</a:t>
            </a:r>
          </a:p>
          <a:p>
            <a:r>
              <a:rPr lang="en-US" dirty="0"/>
              <a:t>Align solutions with business strategy</a:t>
            </a:r>
          </a:p>
          <a:p>
            <a:pPr marL="0" indent="0">
              <a:buNone/>
            </a:pPr>
            <a:endParaRPr lang="en-IN" dirty="0"/>
          </a:p>
        </p:txBody>
      </p:sp>
    </p:spTree>
    <p:extLst>
      <p:ext uri="{BB962C8B-B14F-4D97-AF65-F5344CB8AC3E}">
        <p14:creationId xmlns:p14="http://schemas.microsoft.com/office/powerpoint/2010/main" val="37040039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DC36E-3FA9-A7DB-21E9-950B8C14DECC}"/>
              </a:ext>
            </a:extLst>
          </p:cNvPr>
          <p:cNvSpPr>
            <a:spLocks noGrp="1"/>
          </p:cNvSpPr>
          <p:nvPr>
            <p:ph idx="1"/>
          </p:nvPr>
        </p:nvSpPr>
        <p:spPr>
          <a:xfrm>
            <a:off x="838200" y="548640"/>
            <a:ext cx="10515600" cy="5628323"/>
          </a:xfrm>
        </p:spPr>
        <p:txBody>
          <a:bodyPr/>
          <a:lstStyle/>
          <a:p>
            <a:pPr marL="0" indent="0">
              <a:buNone/>
            </a:pPr>
            <a:r>
              <a:rPr lang="en-US" b="1" dirty="0"/>
              <a:t> Why Methodologies Matter</a:t>
            </a:r>
            <a:endParaRPr lang="en-US" dirty="0"/>
          </a:p>
          <a:p>
            <a:r>
              <a:rPr lang="en-US" dirty="0"/>
              <a:t>Provide systematic framework</a:t>
            </a:r>
          </a:p>
          <a:p>
            <a:r>
              <a:rPr lang="en-US" dirty="0"/>
              <a:t>Improve communication between teams</a:t>
            </a:r>
          </a:p>
          <a:p>
            <a:r>
              <a:rPr lang="en-US" dirty="0"/>
              <a:t>Increase project success rate</a:t>
            </a:r>
          </a:p>
          <a:p>
            <a:pPr marL="0" indent="0">
              <a:buNone/>
            </a:pPr>
            <a:r>
              <a:rPr lang="en-IN" b="1" dirty="0"/>
              <a:t>Key Points</a:t>
            </a:r>
          </a:p>
          <a:p>
            <a:pPr marL="0" indent="0">
              <a:buNone/>
            </a:pPr>
            <a:r>
              <a:rPr lang="en-US" dirty="0"/>
              <a:t>Business analysis uses methodologies like </a:t>
            </a:r>
            <a:r>
              <a:rPr lang="en-US" b="1" dirty="0"/>
              <a:t>Agile</a:t>
            </a:r>
            <a:r>
              <a:rPr lang="en-US" dirty="0"/>
              <a:t> and </a:t>
            </a:r>
            <a:r>
              <a:rPr lang="en-US" b="1" dirty="0"/>
              <a:t>Water fall</a:t>
            </a:r>
            <a:r>
              <a:rPr lang="en-US" dirty="0"/>
              <a:t> .</a:t>
            </a:r>
            <a:endParaRPr lang="en-US" b="1" dirty="0"/>
          </a:p>
          <a:p>
            <a:pPr marL="0" indent="0">
              <a:buNone/>
            </a:pPr>
            <a:r>
              <a:rPr lang="en-IN" dirty="0"/>
              <a:t>Agile is a flexible, iterative approach focused on continuous feedback and collaboration, while Waterfall is a sequential, linear model that emphasizes thorough upfront planning and distinct, consecutive phases</a:t>
            </a:r>
            <a:r>
              <a:rPr lang="en-US" b="1" dirty="0"/>
              <a:t> </a:t>
            </a:r>
            <a:r>
              <a:rPr lang="en-US" dirty="0"/>
              <a:t>to manage projects.</a:t>
            </a:r>
          </a:p>
          <a:p>
            <a:pPr marL="0" indent="0">
              <a:buNone/>
            </a:pPr>
            <a:endParaRPr lang="en-IN" b="1" dirty="0"/>
          </a:p>
        </p:txBody>
      </p:sp>
    </p:spTree>
    <p:extLst>
      <p:ext uri="{BB962C8B-B14F-4D97-AF65-F5344CB8AC3E}">
        <p14:creationId xmlns:p14="http://schemas.microsoft.com/office/powerpoint/2010/main" val="3531461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5948F4-724C-2809-D408-AA6E8DE6E962}"/>
              </a:ext>
            </a:extLst>
          </p:cNvPr>
          <p:cNvSpPr>
            <a:spLocks noGrp="1"/>
          </p:cNvSpPr>
          <p:nvPr>
            <p:ph idx="1"/>
          </p:nvPr>
        </p:nvSpPr>
        <p:spPr>
          <a:xfrm>
            <a:off x="838200" y="325120"/>
            <a:ext cx="10515600" cy="5851843"/>
          </a:xfrm>
        </p:spPr>
        <p:txBody>
          <a:bodyPr/>
          <a:lstStyle/>
          <a:p>
            <a:pPr marL="0" indent="0">
              <a:buNone/>
            </a:pPr>
            <a:r>
              <a:rPr lang="en-IN" b="1" dirty="0"/>
              <a:t>Waterfall methodology:</a:t>
            </a:r>
            <a:endParaRPr lang="en-IN" dirty="0"/>
          </a:p>
          <a:p>
            <a:pPr marL="0" lvl="0" indent="0">
              <a:buNone/>
            </a:pPr>
            <a:r>
              <a:rPr lang="en-IN" b="1" dirty="0"/>
              <a:t>Approach:</a:t>
            </a:r>
            <a:r>
              <a:rPr lang="en-IN" dirty="0"/>
              <a:t> A linear, sequential process where each phase must be completed before the next begins.</a:t>
            </a:r>
          </a:p>
          <a:p>
            <a:pPr marL="0" lvl="0" indent="0">
              <a:buNone/>
            </a:pPr>
            <a:r>
              <a:rPr lang="en-IN" b="1" dirty="0"/>
              <a:t>Phases:</a:t>
            </a:r>
            <a:r>
              <a:rPr lang="en-IN" dirty="0"/>
              <a:t> Typically includes requirements gathering, design, implementation, verification, and maintenance.</a:t>
            </a:r>
          </a:p>
          <a:p>
            <a:pPr marL="0" indent="0">
              <a:buNone/>
            </a:pPr>
            <a:r>
              <a:rPr lang="en-IN" b="1" dirty="0"/>
              <a:t>Best for:</a:t>
            </a:r>
            <a:r>
              <a:rPr lang="en-IN" dirty="0"/>
              <a:t> Projects with stable requirements that are well-defined from the start. </a:t>
            </a:r>
          </a:p>
          <a:p>
            <a:pPr marL="0" indent="0">
              <a:buNone/>
            </a:pPr>
            <a:r>
              <a:rPr lang="en-US" sz="3200" b="1" dirty="0"/>
              <a:t>Role of BA in Waterfall</a:t>
            </a:r>
          </a:p>
          <a:p>
            <a:pPr marL="0" indent="0">
              <a:buNone/>
            </a:pPr>
            <a:r>
              <a:rPr lang="en-US" dirty="0"/>
              <a:t>Gather </a:t>
            </a:r>
            <a:r>
              <a:rPr lang="en-US" b="1" dirty="0"/>
              <a:t>complete requirements</a:t>
            </a:r>
            <a:r>
              <a:rPr lang="en-US" dirty="0"/>
              <a:t> at the beginning.</a:t>
            </a:r>
          </a:p>
          <a:p>
            <a:pPr marL="0" indent="0">
              <a:buNone/>
            </a:pPr>
            <a:r>
              <a:rPr lang="en-US" dirty="0"/>
              <a:t>Prepare </a:t>
            </a:r>
            <a:r>
              <a:rPr lang="en-US" b="1" dirty="0"/>
              <a:t>detailed documentation</a:t>
            </a:r>
            <a:r>
              <a:rPr lang="en-US" dirty="0"/>
              <a:t> (BRD, SRS, use cases).</a:t>
            </a:r>
          </a:p>
          <a:p>
            <a:pPr marL="0" indent="0">
              <a:buNone/>
            </a:pPr>
            <a:r>
              <a:rPr lang="en-US" dirty="0"/>
              <a:t>Get sign-off from stakeholders </a:t>
            </a:r>
            <a:r>
              <a:rPr lang="en-US" b="1" dirty="0"/>
              <a:t>before development starts</a:t>
            </a:r>
            <a:r>
              <a:rPr lang="en-US" dirty="0"/>
              <a:t>.</a:t>
            </a:r>
          </a:p>
          <a:p>
            <a:pPr marL="0" indent="0">
              <a:buNone/>
            </a:pPr>
            <a:r>
              <a:rPr lang="en-US" dirty="0"/>
              <a:t>Limited scope for change later.</a:t>
            </a:r>
          </a:p>
          <a:p>
            <a:pPr marL="0" indent="0">
              <a:buNone/>
            </a:pPr>
            <a:endParaRPr lang="en-IN" dirty="0"/>
          </a:p>
        </p:txBody>
      </p:sp>
    </p:spTree>
    <p:extLst>
      <p:ext uri="{BB962C8B-B14F-4D97-AF65-F5344CB8AC3E}">
        <p14:creationId xmlns:p14="http://schemas.microsoft.com/office/powerpoint/2010/main" val="34518209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4E304A-97D9-D47D-4253-42E26727CD3D}"/>
              </a:ext>
            </a:extLst>
          </p:cNvPr>
          <p:cNvSpPr>
            <a:spLocks noGrp="1"/>
          </p:cNvSpPr>
          <p:nvPr>
            <p:ph idx="1"/>
          </p:nvPr>
        </p:nvSpPr>
        <p:spPr>
          <a:xfrm>
            <a:off x="838200" y="325120"/>
            <a:ext cx="10515600" cy="5851843"/>
          </a:xfrm>
        </p:spPr>
        <p:txBody>
          <a:bodyPr/>
          <a:lstStyle/>
          <a:p>
            <a:pPr marL="0" indent="0">
              <a:buNone/>
            </a:pPr>
            <a:r>
              <a:rPr lang="en-US" sz="3200" b="1" dirty="0"/>
              <a:t>Advantages</a:t>
            </a:r>
          </a:p>
          <a:p>
            <a:pPr>
              <a:buClr>
                <a:schemeClr val="tx1"/>
              </a:buClr>
              <a:buFont typeface="Wingdings" panose="05000000000000000000" pitchFamily="2" charset="2"/>
              <a:buChar char="§"/>
            </a:pPr>
            <a:r>
              <a:rPr lang="en-US" dirty="0"/>
              <a:t>Clear structure and planning.</a:t>
            </a:r>
          </a:p>
          <a:p>
            <a:pPr>
              <a:buClr>
                <a:schemeClr val="tx1"/>
              </a:buClr>
              <a:buFont typeface="Wingdings" panose="05000000000000000000" pitchFamily="2" charset="2"/>
              <a:buChar char="§"/>
            </a:pPr>
            <a:r>
              <a:rPr lang="en-US" dirty="0"/>
              <a:t>Good for </a:t>
            </a:r>
            <a:r>
              <a:rPr lang="en-US" b="1" dirty="0"/>
              <a:t>stable, well-understood requirements</a:t>
            </a:r>
            <a:r>
              <a:rPr lang="en-US" dirty="0"/>
              <a:t>.</a:t>
            </a:r>
          </a:p>
          <a:p>
            <a:pPr>
              <a:buClr>
                <a:schemeClr val="tx1"/>
              </a:buClr>
              <a:buFont typeface="Wingdings" panose="05000000000000000000" pitchFamily="2" charset="2"/>
              <a:buChar char="§"/>
            </a:pPr>
            <a:r>
              <a:rPr lang="en-US" dirty="0"/>
              <a:t>Strong documentation.</a:t>
            </a:r>
          </a:p>
          <a:p>
            <a:pPr marL="0" indent="0">
              <a:buNone/>
            </a:pPr>
            <a:r>
              <a:rPr lang="en-US" sz="3200" b="1" dirty="0"/>
              <a:t>Disadvantages</a:t>
            </a:r>
          </a:p>
          <a:p>
            <a:pPr>
              <a:buClr>
                <a:schemeClr val="tx1"/>
              </a:buClr>
              <a:buFont typeface="Wingdings" panose="05000000000000000000" pitchFamily="2" charset="2"/>
              <a:buChar char="§"/>
            </a:pPr>
            <a:r>
              <a:rPr lang="en-US" dirty="0"/>
              <a:t>Not flexible to changes.</a:t>
            </a:r>
          </a:p>
          <a:p>
            <a:pPr>
              <a:buClr>
                <a:schemeClr val="tx1"/>
              </a:buClr>
              <a:buFont typeface="Wingdings" panose="05000000000000000000" pitchFamily="2" charset="2"/>
              <a:buChar char="§"/>
            </a:pPr>
            <a:r>
              <a:rPr lang="en-US" dirty="0"/>
              <a:t>Feedback comes </a:t>
            </a:r>
            <a:r>
              <a:rPr lang="en-US" b="1" dirty="0"/>
              <a:t>late</a:t>
            </a:r>
            <a:r>
              <a:rPr lang="en-US" dirty="0"/>
              <a:t>, after development.</a:t>
            </a:r>
          </a:p>
          <a:p>
            <a:pPr>
              <a:buClr>
                <a:schemeClr val="tx1"/>
              </a:buClr>
              <a:buFont typeface="Wingdings" panose="05000000000000000000" pitchFamily="2" charset="2"/>
              <a:buChar char="§"/>
            </a:pPr>
            <a:r>
              <a:rPr lang="en-US" dirty="0"/>
              <a:t>Risk of building something that doesn’t match user needs if requirements change.</a:t>
            </a:r>
          </a:p>
          <a:p>
            <a:pPr marL="0" indent="0">
              <a:buNone/>
            </a:pPr>
            <a:endParaRPr lang="en-IN" dirty="0"/>
          </a:p>
        </p:txBody>
      </p:sp>
    </p:spTree>
    <p:extLst>
      <p:ext uri="{BB962C8B-B14F-4D97-AF65-F5344CB8AC3E}">
        <p14:creationId xmlns:p14="http://schemas.microsoft.com/office/powerpoint/2010/main" val="1884716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6F9C1C-512E-1C12-58A8-56975A9884B4}"/>
              </a:ext>
            </a:extLst>
          </p:cNvPr>
          <p:cNvSpPr>
            <a:spLocks noGrp="1"/>
          </p:cNvSpPr>
          <p:nvPr>
            <p:ph idx="1"/>
          </p:nvPr>
        </p:nvSpPr>
        <p:spPr>
          <a:xfrm>
            <a:off x="838200" y="386080"/>
            <a:ext cx="10515600" cy="5790883"/>
          </a:xfrm>
        </p:spPr>
        <p:txBody>
          <a:bodyPr/>
          <a:lstStyle/>
          <a:p>
            <a:pPr marL="0" indent="0">
              <a:buNone/>
            </a:pPr>
            <a:r>
              <a:rPr lang="en-IN" b="1" dirty="0"/>
              <a:t>Agile methodology:</a:t>
            </a:r>
            <a:endParaRPr lang="en-IN" dirty="0"/>
          </a:p>
          <a:p>
            <a:pPr marL="0" lvl="0" indent="0">
              <a:buNone/>
            </a:pPr>
            <a:r>
              <a:rPr lang="en-IN" b="1" dirty="0"/>
              <a:t>Approach:</a:t>
            </a:r>
            <a:r>
              <a:rPr lang="en-IN" dirty="0"/>
              <a:t> Iterative and incremental, focusing on flexibility, collaboration, and responding to change.</a:t>
            </a:r>
          </a:p>
          <a:p>
            <a:pPr marL="0" lvl="0" indent="0">
              <a:buNone/>
            </a:pPr>
            <a:r>
              <a:rPr lang="en-IN" b="1" dirty="0"/>
              <a:t>Key principles:</a:t>
            </a:r>
            <a:r>
              <a:rPr lang="en-IN" dirty="0"/>
              <a:t> Embraces feedback, breaks work into smaller pieces, and uses short, time-boxed cycles (sprints) to deliver value continuously.</a:t>
            </a:r>
          </a:p>
          <a:p>
            <a:pPr marL="0" lvl="0" indent="0">
              <a:buNone/>
            </a:pPr>
            <a:r>
              <a:rPr lang="en-IN" b="1" dirty="0"/>
              <a:t>Popular frameworks:</a:t>
            </a:r>
            <a:r>
              <a:rPr lang="en-IN" dirty="0"/>
              <a:t> Includes Scrum, Kanban, and Lean.</a:t>
            </a:r>
          </a:p>
          <a:p>
            <a:pPr marL="0" lvl="0" indent="0">
              <a:buNone/>
            </a:pPr>
            <a:r>
              <a:rPr lang="en-IN" b="1" dirty="0"/>
              <a:t>Best for:</a:t>
            </a:r>
            <a:r>
              <a:rPr lang="en-IN" dirty="0"/>
              <a:t> Projects where requirements may evolve or change, and where continuous feedback is valuable</a:t>
            </a:r>
          </a:p>
        </p:txBody>
      </p:sp>
    </p:spTree>
    <p:extLst>
      <p:ext uri="{BB962C8B-B14F-4D97-AF65-F5344CB8AC3E}">
        <p14:creationId xmlns:p14="http://schemas.microsoft.com/office/powerpoint/2010/main" val="21058967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04AD61-4EFC-2AAC-5841-48AC330AE903}"/>
              </a:ext>
            </a:extLst>
          </p:cNvPr>
          <p:cNvSpPr>
            <a:spLocks noGrp="1"/>
          </p:cNvSpPr>
          <p:nvPr>
            <p:ph idx="1"/>
          </p:nvPr>
        </p:nvSpPr>
        <p:spPr>
          <a:xfrm>
            <a:off x="838200" y="375920"/>
            <a:ext cx="10515600" cy="5801043"/>
          </a:xfrm>
        </p:spPr>
        <p:txBody>
          <a:bodyPr/>
          <a:lstStyle/>
          <a:p>
            <a:pPr marL="0" indent="0">
              <a:buNone/>
            </a:pPr>
            <a:r>
              <a:rPr lang="en-US" sz="2400" b="1" dirty="0"/>
              <a:t>Role of BA in Agile:</a:t>
            </a:r>
          </a:p>
          <a:p>
            <a:pPr>
              <a:buClr>
                <a:schemeClr val="tx1"/>
              </a:buClr>
              <a:buFont typeface="Wingdings" panose="05000000000000000000" pitchFamily="2" charset="2"/>
              <a:buChar char="§"/>
            </a:pPr>
            <a:r>
              <a:rPr lang="en-US" sz="2400" dirty="0"/>
              <a:t>Work closely with </a:t>
            </a:r>
            <a:r>
              <a:rPr lang="en-US" sz="2400" b="1" dirty="0"/>
              <a:t>Product Owner and development team</a:t>
            </a:r>
            <a:r>
              <a:rPr lang="en-US" sz="2400" dirty="0"/>
              <a:t>.</a:t>
            </a:r>
          </a:p>
          <a:p>
            <a:pPr>
              <a:buClr>
                <a:schemeClr val="tx1"/>
              </a:buClr>
              <a:buFont typeface="Wingdings" panose="05000000000000000000" pitchFamily="2" charset="2"/>
              <a:buChar char="§"/>
            </a:pPr>
            <a:r>
              <a:rPr lang="en-US" sz="2400" dirty="0"/>
              <a:t>Help write and refine </a:t>
            </a:r>
            <a:r>
              <a:rPr lang="en-US" sz="2400" b="1" dirty="0"/>
              <a:t>user stories</a:t>
            </a:r>
            <a:r>
              <a:rPr lang="en-US" sz="2400" dirty="0"/>
              <a:t> with acceptance criteria.</a:t>
            </a:r>
          </a:p>
          <a:p>
            <a:pPr>
              <a:buClr>
                <a:schemeClr val="tx1"/>
              </a:buClr>
              <a:buFont typeface="Wingdings" panose="05000000000000000000" pitchFamily="2" charset="2"/>
              <a:buChar char="§"/>
            </a:pPr>
            <a:r>
              <a:rPr lang="en-US" sz="2400" dirty="0"/>
              <a:t>Participate in:</a:t>
            </a:r>
          </a:p>
          <a:p>
            <a:pPr lvl="1">
              <a:buClr>
                <a:schemeClr val="tx1"/>
              </a:buClr>
              <a:buFont typeface="Wingdings" panose="05000000000000000000" pitchFamily="2" charset="2"/>
              <a:buChar char="§"/>
            </a:pPr>
            <a:r>
              <a:rPr lang="en-US" dirty="0"/>
              <a:t>Sprint planning</a:t>
            </a:r>
          </a:p>
          <a:p>
            <a:pPr lvl="1">
              <a:buClr>
                <a:schemeClr val="tx1"/>
              </a:buClr>
              <a:buFont typeface="Wingdings" panose="05000000000000000000" pitchFamily="2" charset="2"/>
              <a:buChar char="§"/>
            </a:pPr>
            <a:r>
              <a:rPr lang="en-US" dirty="0"/>
              <a:t>Daily stand-up meetings</a:t>
            </a:r>
          </a:p>
          <a:p>
            <a:pPr lvl="1">
              <a:buClr>
                <a:schemeClr val="tx1"/>
              </a:buClr>
              <a:buFont typeface="Wingdings" panose="05000000000000000000" pitchFamily="2" charset="2"/>
              <a:buChar char="§"/>
            </a:pPr>
            <a:r>
              <a:rPr lang="en-US" dirty="0"/>
              <a:t>Sprint review</a:t>
            </a:r>
          </a:p>
          <a:p>
            <a:pPr>
              <a:buClr>
                <a:schemeClr val="tx1"/>
              </a:buClr>
              <a:buFont typeface="Wingdings" panose="05000000000000000000" pitchFamily="2" charset="2"/>
              <a:buChar char="§"/>
            </a:pPr>
            <a:r>
              <a:rPr lang="en-US" sz="2400" dirty="0"/>
              <a:t>Continuously </a:t>
            </a:r>
            <a:r>
              <a:rPr lang="en-US" sz="2400" b="1" dirty="0"/>
              <a:t>prioritize and clarify requirements</a:t>
            </a:r>
            <a:r>
              <a:rPr lang="en-US" sz="2400" dirty="0"/>
              <a:t>.</a:t>
            </a:r>
          </a:p>
          <a:p>
            <a:pPr>
              <a:buClr>
                <a:schemeClr val="tx1"/>
              </a:buClr>
              <a:buFont typeface="Wingdings" panose="05000000000000000000" pitchFamily="2" charset="2"/>
              <a:buChar char="§"/>
            </a:pPr>
            <a:r>
              <a:rPr lang="en-US" sz="2400" dirty="0"/>
              <a:t>Focus more on </a:t>
            </a:r>
            <a:r>
              <a:rPr lang="en-US" sz="2400" b="1" dirty="0"/>
              <a:t>communication and collaboration</a:t>
            </a:r>
            <a:r>
              <a:rPr lang="en-US" sz="2400" dirty="0"/>
              <a:t> than heavy documentation.</a:t>
            </a:r>
          </a:p>
          <a:p>
            <a:pPr marL="0" indent="0">
              <a:buNone/>
            </a:pPr>
            <a:endParaRPr lang="en-IN" dirty="0"/>
          </a:p>
        </p:txBody>
      </p:sp>
    </p:spTree>
    <p:extLst>
      <p:ext uri="{BB962C8B-B14F-4D97-AF65-F5344CB8AC3E}">
        <p14:creationId xmlns:p14="http://schemas.microsoft.com/office/powerpoint/2010/main" val="6633901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8CBE92-7548-E052-F35B-FDA02F35CE48}"/>
              </a:ext>
            </a:extLst>
          </p:cNvPr>
          <p:cNvSpPr>
            <a:spLocks noGrp="1"/>
          </p:cNvSpPr>
          <p:nvPr>
            <p:ph idx="1"/>
          </p:nvPr>
        </p:nvSpPr>
        <p:spPr>
          <a:xfrm>
            <a:off x="838200" y="477520"/>
            <a:ext cx="10515600" cy="5699443"/>
          </a:xfrm>
        </p:spPr>
        <p:txBody>
          <a:bodyPr/>
          <a:lstStyle/>
          <a:p>
            <a:pPr marL="0" indent="0">
              <a:buClr>
                <a:schemeClr val="tx1"/>
              </a:buClr>
              <a:buNone/>
            </a:pPr>
            <a:r>
              <a:rPr lang="en-US" b="1" dirty="0"/>
              <a:t>Advantages</a:t>
            </a:r>
          </a:p>
          <a:p>
            <a:pPr>
              <a:buClr>
                <a:schemeClr val="tx1"/>
              </a:buClr>
              <a:buFont typeface="Wingdings" panose="05000000000000000000" pitchFamily="2" charset="2"/>
              <a:buChar char="§"/>
            </a:pPr>
            <a:r>
              <a:rPr lang="en-US" dirty="0"/>
              <a:t>Very </a:t>
            </a:r>
            <a:r>
              <a:rPr lang="en-US" b="1" dirty="0"/>
              <a:t>flexible</a:t>
            </a:r>
            <a:r>
              <a:rPr lang="en-US" dirty="0"/>
              <a:t> with changing requirements.</a:t>
            </a:r>
          </a:p>
          <a:p>
            <a:pPr>
              <a:buClr>
                <a:schemeClr val="tx1"/>
              </a:buClr>
              <a:buFont typeface="Wingdings" panose="05000000000000000000" pitchFamily="2" charset="2"/>
              <a:buChar char="§"/>
            </a:pPr>
            <a:r>
              <a:rPr lang="en-US" dirty="0"/>
              <a:t>Regular </a:t>
            </a:r>
            <a:r>
              <a:rPr lang="en-US" b="1" dirty="0"/>
              <a:t>feedback</a:t>
            </a:r>
            <a:r>
              <a:rPr lang="en-US" dirty="0"/>
              <a:t> from users.</a:t>
            </a:r>
          </a:p>
          <a:p>
            <a:pPr>
              <a:buClr>
                <a:schemeClr val="tx1"/>
              </a:buClr>
              <a:buFont typeface="Wingdings" panose="05000000000000000000" pitchFamily="2" charset="2"/>
              <a:buChar char="§"/>
            </a:pPr>
            <a:r>
              <a:rPr lang="en-US" dirty="0"/>
              <a:t>Delivers working software </a:t>
            </a:r>
            <a:r>
              <a:rPr lang="en-US" b="1" dirty="0"/>
              <a:t>faster and more frequently</a:t>
            </a:r>
            <a:r>
              <a:rPr lang="en-US" dirty="0"/>
              <a:t>.</a:t>
            </a:r>
          </a:p>
          <a:p>
            <a:pPr marL="0" indent="0">
              <a:buClr>
                <a:schemeClr val="tx1"/>
              </a:buClr>
              <a:buNone/>
            </a:pPr>
            <a:endParaRPr lang="en-US" b="1" dirty="0"/>
          </a:p>
          <a:p>
            <a:pPr marL="0" indent="0">
              <a:buClr>
                <a:schemeClr val="tx1"/>
              </a:buClr>
              <a:buNone/>
            </a:pPr>
            <a:r>
              <a:rPr lang="en-US" b="1" dirty="0"/>
              <a:t>Disadvantages</a:t>
            </a:r>
          </a:p>
          <a:p>
            <a:pPr>
              <a:buClr>
                <a:schemeClr val="tx1"/>
              </a:buClr>
              <a:buFont typeface="Wingdings" panose="05000000000000000000" pitchFamily="2" charset="2"/>
              <a:buChar char="§"/>
            </a:pPr>
            <a:r>
              <a:rPr lang="en-US" dirty="0"/>
              <a:t>Needs high </a:t>
            </a:r>
            <a:r>
              <a:rPr lang="en-US" b="1" dirty="0"/>
              <a:t>team involvement</a:t>
            </a:r>
            <a:r>
              <a:rPr lang="en-US" dirty="0"/>
              <a:t> and collaboration.</a:t>
            </a:r>
          </a:p>
          <a:p>
            <a:pPr>
              <a:buClr>
                <a:schemeClr val="tx1"/>
              </a:buClr>
              <a:buFont typeface="Wingdings" panose="05000000000000000000" pitchFamily="2" charset="2"/>
              <a:buChar char="§"/>
            </a:pPr>
            <a:r>
              <a:rPr lang="en-US" dirty="0"/>
              <a:t>Documentation may be lighter.</a:t>
            </a:r>
          </a:p>
          <a:p>
            <a:pPr>
              <a:buClr>
                <a:schemeClr val="tx1"/>
              </a:buClr>
              <a:buFont typeface="Wingdings" panose="05000000000000000000" pitchFamily="2" charset="2"/>
              <a:buChar char="§"/>
            </a:pPr>
            <a:r>
              <a:rPr lang="en-US" dirty="0"/>
              <a:t>Difficult if stakeholders are not available regularly</a:t>
            </a:r>
            <a:endParaRPr lang="en-IN" dirty="0"/>
          </a:p>
        </p:txBody>
      </p:sp>
    </p:spTree>
    <p:extLst>
      <p:ext uri="{BB962C8B-B14F-4D97-AF65-F5344CB8AC3E}">
        <p14:creationId xmlns:p14="http://schemas.microsoft.com/office/powerpoint/2010/main" val="28839950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A43B-457F-C03F-B683-6F69C181DC50}"/>
              </a:ext>
            </a:extLst>
          </p:cNvPr>
          <p:cNvSpPr>
            <a:spLocks noGrp="1"/>
          </p:cNvSpPr>
          <p:nvPr>
            <p:ph type="title"/>
          </p:nvPr>
        </p:nvSpPr>
        <p:spPr>
          <a:xfrm>
            <a:off x="646111" y="452718"/>
            <a:ext cx="9404723" cy="847762"/>
          </a:xfrm>
        </p:spPr>
        <p:txBody>
          <a:bodyPr>
            <a:noAutofit/>
          </a:bodyPr>
          <a:lstStyle/>
          <a:p>
            <a:r>
              <a:rPr lang="en-US" sz="3200" b="1" dirty="0">
                <a:latin typeface="+mn-lt"/>
              </a:rPr>
              <a:t>Key Differences Between Waterfall and Agile</a:t>
            </a:r>
            <a:endParaRPr lang="en-IN" sz="3200" dirty="0">
              <a:latin typeface="+mn-lt"/>
            </a:endParaRPr>
          </a:p>
        </p:txBody>
      </p:sp>
      <p:pic>
        <p:nvPicPr>
          <p:cNvPr id="4" name="table">
            <a:extLst>
              <a:ext uri="{FF2B5EF4-FFF2-40B4-BE49-F238E27FC236}">
                <a16:creationId xmlns:a16="http://schemas.microsoft.com/office/drawing/2014/main" id="{1C41CB03-DFBE-A89F-42C7-4E4062D7A4F1}"/>
              </a:ext>
            </a:extLst>
          </p:cNvPr>
          <p:cNvPicPr>
            <a:picLocks noGrp="1" noChangeAspect="1"/>
          </p:cNvPicPr>
          <p:nvPr>
            <p:ph idx="1"/>
          </p:nvPr>
        </p:nvPicPr>
        <p:blipFill>
          <a:blip r:embed="rId2"/>
          <a:stretch>
            <a:fillRect/>
          </a:stretch>
        </p:blipFill>
        <p:spPr>
          <a:xfrm>
            <a:off x="838200" y="1503363"/>
            <a:ext cx="9931399" cy="4673600"/>
          </a:xfrm>
          <a:prstGeom prst="rect">
            <a:avLst/>
          </a:prstGeom>
        </p:spPr>
      </p:pic>
    </p:spTree>
    <p:extLst>
      <p:ext uri="{BB962C8B-B14F-4D97-AF65-F5344CB8AC3E}">
        <p14:creationId xmlns:p14="http://schemas.microsoft.com/office/powerpoint/2010/main" val="4058928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6285-E2A4-9129-892B-7A611E24B2EE}"/>
              </a:ext>
            </a:extLst>
          </p:cNvPr>
          <p:cNvSpPr>
            <a:spLocks noGrp="1"/>
          </p:cNvSpPr>
          <p:nvPr>
            <p:ph type="title"/>
          </p:nvPr>
        </p:nvSpPr>
        <p:spPr>
          <a:xfrm>
            <a:off x="838200" y="365125"/>
            <a:ext cx="10515600" cy="884555"/>
          </a:xfrm>
        </p:spPr>
        <p:txBody>
          <a:bodyPr>
            <a:normAutofit/>
          </a:bodyPr>
          <a:lstStyle/>
          <a:p>
            <a:r>
              <a:rPr lang="en-IN" sz="4000" b="1" dirty="0">
                <a:latin typeface="+mn-lt"/>
              </a:rPr>
              <a:t>3.4 Stakeholder Management</a:t>
            </a:r>
          </a:p>
        </p:txBody>
      </p:sp>
      <p:sp>
        <p:nvSpPr>
          <p:cNvPr id="3" name="Content Placeholder 2">
            <a:extLst>
              <a:ext uri="{FF2B5EF4-FFF2-40B4-BE49-F238E27FC236}">
                <a16:creationId xmlns:a16="http://schemas.microsoft.com/office/drawing/2014/main" id="{5F25F3DB-CB1F-AEE9-9DD4-3250C90596CD}"/>
              </a:ext>
            </a:extLst>
          </p:cNvPr>
          <p:cNvSpPr>
            <a:spLocks noGrp="1"/>
          </p:cNvSpPr>
          <p:nvPr>
            <p:ph idx="1"/>
          </p:nvPr>
        </p:nvSpPr>
        <p:spPr>
          <a:xfrm>
            <a:off x="838200" y="1249680"/>
            <a:ext cx="10515600" cy="4927283"/>
          </a:xfrm>
        </p:spPr>
        <p:txBody>
          <a:bodyPr/>
          <a:lstStyle/>
          <a:p>
            <a:r>
              <a:rPr lang="en-US" b="1" dirty="0"/>
              <a:t>Introduction to Stakeholder Management</a:t>
            </a:r>
          </a:p>
          <a:p>
            <a:pPr marL="0" indent="0">
              <a:buNone/>
            </a:pPr>
            <a:r>
              <a:rPr lang="en-US" b="1" dirty="0"/>
              <a:t>What is Stakeholder Management?</a:t>
            </a:r>
            <a:br>
              <a:rPr lang="en-US" dirty="0"/>
            </a:br>
            <a:r>
              <a:rPr lang="en-US" dirty="0"/>
              <a:t>Stakeholder Management is the process of identifying, analyzing, engaging, and communicating with individuals or groups who are affected by or can influence a project or business initiative.</a:t>
            </a:r>
          </a:p>
          <a:p>
            <a:pPr marL="0" indent="0">
              <a:buNone/>
            </a:pPr>
            <a:r>
              <a:rPr lang="en-US" b="1" dirty="0"/>
              <a:t>Who are Stakeholders?</a:t>
            </a:r>
            <a:endParaRPr lang="en-US" dirty="0"/>
          </a:p>
          <a:p>
            <a:r>
              <a:rPr lang="en-US" dirty="0"/>
              <a:t>Internal: Managers, employees, project team, executives</a:t>
            </a:r>
          </a:p>
          <a:p>
            <a:r>
              <a:rPr lang="en-US" dirty="0"/>
              <a:t>External: Customers, suppliers, partners, regulators, investors</a:t>
            </a:r>
          </a:p>
          <a:p>
            <a:pPr marL="0" indent="0">
              <a:buNone/>
            </a:pPr>
            <a:endParaRPr lang="en-IN" dirty="0"/>
          </a:p>
        </p:txBody>
      </p:sp>
    </p:spTree>
    <p:extLst>
      <p:ext uri="{BB962C8B-B14F-4D97-AF65-F5344CB8AC3E}">
        <p14:creationId xmlns:p14="http://schemas.microsoft.com/office/powerpoint/2010/main" val="2433356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8F0A2-1D74-9994-79FE-15C95CE57910}"/>
              </a:ext>
            </a:extLst>
          </p:cNvPr>
          <p:cNvSpPr>
            <a:spLocks noGrp="1"/>
          </p:cNvSpPr>
          <p:nvPr>
            <p:ph idx="1"/>
          </p:nvPr>
        </p:nvSpPr>
        <p:spPr>
          <a:xfrm>
            <a:off x="838200" y="254000"/>
            <a:ext cx="10515600" cy="5922963"/>
          </a:xfrm>
        </p:spPr>
        <p:txBody>
          <a:bodyPr>
            <a:normAutofit/>
          </a:bodyPr>
          <a:lstStyle/>
          <a:p>
            <a:r>
              <a:rPr lang="en-US" b="1" dirty="0"/>
              <a:t>Importance</a:t>
            </a:r>
            <a:endParaRPr lang="en-US" dirty="0"/>
          </a:p>
          <a:p>
            <a:r>
              <a:rPr lang="en-US" dirty="0"/>
              <a:t>Ensures stakeholder support and cooperation</a:t>
            </a:r>
          </a:p>
          <a:p>
            <a:r>
              <a:rPr lang="en-US" dirty="0"/>
              <a:t>Reduces conflicts and misunderstandings</a:t>
            </a:r>
          </a:p>
          <a:p>
            <a:r>
              <a:rPr lang="en-US" dirty="0"/>
              <a:t>Improves project success and decision-making</a:t>
            </a:r>
          </a:p>
          <a:p>
            <a:pPr marL="0" indent="0">
              <a:buNone/>
            </a:pPr>
            <a:r>
              <a:rPr lang="en-US" b="1" dirty="0"/>
              <a:t> </a:t>
            </a:r>
            <a:r>
              <a:rPr lang="en-US" b="1" u="sng" dirty="0"/>
              <a:t>Stakeholder Identification and Analysis</a:t>
            </a:r>
          </a:p>
          <a:p>
            <a:pPr marL="0" indent="0">
              <a:buNone/>
            </a:pPr>
            <a:r>
              <a:rPr lang="en-US" b="1" dirty="0"/>
              <a:t> Steps in Stakeholder Analysis</a:t>
            </a:r>
            <a:endParaRPr lang="en-US" dirty="0"/>
          </a:p>
          <a:p>
            <a:r>
              <a:rPr lang="en-US" b="1" dirty="0"/>
              <a:t>Identify Stakeholders</a:t>
            </a:r>
            <a:r>
              <a:rPr lang="en-US" dirty="0"/>
              <a:t> – List all individuals or groups involved or impacted</a:t>
            </a:r>
          </a:p>
          <a:p>
            <a:r>
              <a:rPr lang="en-US" b="1" dirty="0"/>
              <a:t>Assess Influence and Interest</a:t>
            </a:r>
            <a:endParaRPr lang="en-US" dirty="0"/>
          </a:p>
          <a:p>
            <a:pPr lvl="1"/>
            <a:r>
              <a:rPr lang="en-US" dirty="0"/>
              <a:t>High Power – High Interest: Manage closely</a:t>
            </a:r>
          </a:p>
          <a:p>
            <a:pPr lvl="1"/>
            <a:r>
              <a:rPr lang="en-US" dirty="0"/>
              <a:t>High Power – Low Interest: Keep satisfied</a:t>
            </a:r>
          </a:p>
          <a:p>
            <a:pPr lvl="1"/>
            <a:r>
              <a:rPr lang="en-US" dirty="0"/>
              <a:t>Low Power – High Interest: Keep informed</a:t>
            </a:r>
          </a:p>
          <a:p>
            <a:pPr lvl="1"/>
            <a:r>
              <a:rPr lang="en-US" dirty="0"/>
              <a:t>Low Power – Low Interest: Monitor</a:t>
            </a:r>
          </a:p>
          <a:p>
            <a:endParaRPr lang="en-IN" dirty="0"/>
          </a:p>
        </p:txBody>
      </p:sp>
    </p:spTree>
    <p:extLst>
      <p:ext uri="{BB962C8B-B14F-4D97-AF65-F5344CB8AC3E}">
        <p14:creationId xmlns:p14="http://schemas.microsoft.com/office/powerpoint/2010/main" val="1838849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B5CD3-B894-D346-5706-AE97BB614949}"/>
              </a:ext>
            </a:extLst>
          </p:cNvPr>
          <p:cNvSpPr>
            <a:spLocks noGrp="1"/>
          </p:cNvSpPr>
          <p:nvPr>
            <p:ph idx="1"/>
          </p:nvPr>
        </p:nvSpPr>
        <p:spPr>
          <a:xfrm>
            <a:off x="838200" y="426720"/>
            <a:ext cx="10515600" cy="5750243"/>
          </a:xfrm>
        </p:spPr>
        <p:txBody>
          <a:bodyPr/>
          <a:lstStyle/>
          <a:p>
            <a:pPr marL="0" indent="0">
              <a:buNone/>
            </a:pPr>
            <a:r>
              <a:rPr lang="en-US" b="1" dirty="0"/>
              <a:t>Tools Used</a:t>
            </a:r>
            <a:endParaRPr lang="en-US" dirty="0"/>
          </a:p>
          <a:p>
            <a:r>
              <a:rPr lang="en-US" dirty="0"/>
              <a:t>Power–Interest Matrix</a:t>
            </a:r>
          </a:p>
          <a:p>
            <a:r>
              <a:rPr lang="en-US" dirty="0"/>
              <a:t>Stakeholder Register</a:t>
            </a:r>
          </a:p>
          <a:p>
            <a:r>
              <a:rPr lang="en-US" dirty="0"/>
              <a:t>Communication Plan</a:t>
            </a:r>
          </a:p>
          <a:p>
            <a:pPr marL="0" indent="0">
              <a:buNone/>
            </a:pPr>
            <a:r>
              <a:rPr lang="en-US" b="1" dirty="0"/>
              <a:t>Goal:</a:t>
            </a:r>
            <a:br>
              <a:rPr lang="en-US" dirty="0"/>
            </a:br>
            <a:r>
              <a:rPr lang="en-US" dirty="0"/>
              <a:t>Understand stakeholder expectations, needs, and potential impact on the project.</a:t>
            </a:r>
            <a:endParaRPr lang="en-IN" dirty="0"/>
          </a:p>
        </p:txBody>
      </p:sp>
    </p:spTree>
    <p:extLst>
      <p:ext uri="{BB962C8B-B14F-4D97-AF65-F5344CB8AC3E}">
        <p14:creationId xmlns:p14="http://schemas.microsoft.com/office/powerpoint/2010/main" val="2513577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A5E1C-CF8D-FB97-01D8-A623AF57A2E6}"/>
              </a:ext>
            </a:extLst>
          </p:cNvPr>
          <p:cNvSpPr>
            <a:spLocks noGrp="1"/>
          </p:cNvSpPr>
          <p:nvPr>
            <p:ph idx="1"/>
          </p:nvPr>
        </p:nvSpPr>
        <p:spPr>
          <a:xfrm>
            <a:off x="838200" y="223520"/>
            <a:ext cx="10515600" cy="5953443"/>
          </a:xfrm>
        </p:spPr>
        <p:txBody>
          <a:bodyPr>
            <a:normAutofit/>
          </a:bodyPr>
          <a:lstStyle/>
          <a:p>
            <a:pPr marL="0" indent="0">
              <a:buNone/>
            </a:pPr>
            <a:r>
              <a:rPr lang="en-US" b="1" dirty="0"/>
              <a:t>Stakeholder Engagement and Communication</a:t>
            </a:r>
          </a:p>
          <a:p>
            <a:pPr marL="0" indent="0">
              <a:buNone/>
            </a:pPr>
            <a:r>
              <a:rPr lang="en-US" b="1" dirty="0"/>
              <a:t>Effective Engagement Strategies</a:t>
            </a:r>
            <a:endParaRPr lang="en-US" dirty="0"/>
          </a:p>
          <a:p>
            <a:r>
              <a:rPr lang="en-US" dirty="0"/>
              <a:t>Regular meetings and status updates</a:t>
            </a:r>
          </a:p>
          <a:p>
            <a:r>
              <a:rPr lang="en-US" dirty="0"/>
              <a:t>Clear and transparent communication</a:t>
            </a:r>
          </a:p>
          <a:p>
            <a:r>
              <a:rPr lang="en-US" dirty="0"/>
              <a:t>Involve stakeholders in decision-making</a:t>
            </a:r>
          </a:p>
          <a:p>
            <a:r>
              <a:rPr lang="en-US" dirty="0"/>
              <a:t>Address concerns and feedback promptly</a:t>
            </a:r>
          </a:p>
          <a:p>
            <a:pPr marL="0" indent="0">
              <a:buNone/>
            </a:pPr>
            <a:r>
              <a:rPr lang="en-US" b="1" dirty="0"/>
              <a:t>Best Practices</a:t>
            </a:r>
            <a:endParaRPr lang="en-US" dirty="0"/>
          </a:p>
          <a:p>
            <a:r>
              <a:rPr lang="en-US" dirty="0"/>
              <a:t>Build trust and strong relationships</a:t>
            </a:r>
          </a:p>
          <a:p>
            <a:r>
              <a:rPr lang="en-US" dirty="0"/>
              <a:t>Manage expectations realistically</a:t>
            </a:r>
          </a:p>
          <a:p>
            <a:r>
              <a:rPr lang="en-US" dirty="0"/>
              <a:t>Resolve conflicts early</a:t>
            </a:r>
          </a:p>
          <a:p>
            <a:r>
              <a:rPr lang="en-US" dirty="0"/>
              <a:t>Adapt communication style based on stakeholder needs</a:t>
            </a:r>
          </a:p>
          <a:p>
            <a:pPr marL="0" indent="0">
              <a:buNone/>
            </a:pPr>
            <a:r>
              <a:rPr lang="en-US" b="1" dirty="0"/>
              <a:t>Conclusion:</a:t>
            </a:r>
            <a:br>
              <a:rPr lang="en-US" dirty="0"/>
            </a:br>
            <a:r>
              <a:rPr lang="en-US" dirty="0"/>
              <a:t>Effective stakeholder management improves collaboration, minimizes risks, and increases the likelihood of successful project outcomes.</a:t>
            </a:r>
          </a:p>
          <a:p>
            <a:pPr marL="0" indent="0">
              <a:buNone/>
            </a:pPr>
            <a:endParaRPr lang="en-IN" dirty="0"/>
          </a:p>
        </p:txBody>
      </p:sp>
    </p:spTree>
    <p:extLst>
      <p:ext uri="{BB962C8B-B14F-4D97-AF65-F5344CB8AC3E}">
        <p14:creationId xmlns:p14="http://schemas.microsoft.com/office/powerpoint/2010/main" val="3469363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4337-5717-242B-5719-5AE67A03D189}"/>
              </a:ext>
            </a:extLst>
          </p:cNvPr>
          <p:cNvSpPr>
            <a:spLocks noGrp="1"/>
          </p:cNvSpPr>
          <p:nvPr>
            <p:ph type="title"/>
          </p:nvPr>
        </p:nvSpPr>
        <p:spPr>
          <a:xfrm>
            <a:off x="716280" y="2103437"/>
            <a:ext cx="10515600" cy="1325563"/>
          </a:xfrm>
        </p:spPr>
        <p:txBody>
          <a:bodyPr>
            <a:normAutofit/>
          </a:bodyPr>
          <a:lstStyle/>
          <a:p>
            <a:pPr algn="ctr"/>
            <a:r>
              <a:rPr lang="en-IN" sz="4800" b="1" dirty="0">
                <a:latin typeface="+mn-lt"/>
              </a:rPr>
              <a:t>4. Data vs. Information</a:t>
            </a:r>
          </a:p>
        </p:txBody>
      </p:sp>
    </p:spTree>
    <p:extLst>
      <p:ext uri="{BB962C8B-B14F-4D97-AF65-F5344CB8AC3E}">
        <p14:creationId xmlns:p14="http://schemas.microsoft.com/office/powerpoint/2010/main" val="36583403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5F9A9-AFE6-3EE1-E6DF-9F6A18DBF4F7}"/>
              </a:ext>
            </a:extLst>
          </p:cNvPr>
          <p:cNvSpPr>
            <a:spLocks noGrp="1"/>
          </p:cNvSpPr>
          <p:nvPr>
            <p:ph type="title"/>
          </p:nvPr>
        </p:nvSpPr>
        <p:spPr/>
        <p:txBody>
          <a:bodyPr>
            <a:normAutofit/>
          </a:bodyPr>
          <a:lstStyle/>
          <a:p>
            <a:r>
              <a:rPr lang="en-US" sz="4000" b="1" dirty="0">
                <a:latin typeface="+mn-lt"/>
              </a:rPr>
              <a:t>4.1 Distinguishing Raw Data from processed Information</a:t>
            </a:r>
            <a:endParaRPr lang="en-IN" sz="4000" b="1" dirty="0">
              <a:latin typeface="+mn-lt"/>
            </a:endParaRPr>
          </a:p>
        </p:txBody>
      </p:sp>
      <p:sp>
        <p:nvSpPr>
          <p:cNvPr id="3" name="Content Placeholder 2">
            <a:extLst>
              <a:ext uri="{FF2B5EF4-FFF2-40B4-BE49-F238E27FC236}">
                <a16:creationId xmlns:a16="http://schemas.microsoft.com/office/drawing/2014/main" id="{EA21744A-7A7C-FE1D-0C38-DBB75DC2A724}"/>
              </a:ext>
            </a:extLst>
          </p:cNvPr>
          <p:cNvSpPr>
            <a:spLocks noGrp="1"/>
          </p:cNvSpPr>
          <p:nvPr>
            <p:ph idx="1"/>
          </p:nvPr>
        </p:nvSpPr>
        <p:spPr>
          <a:xfrm>
            <a:off x="838200" y="1554480"/>
            <a:ext cx="10515600" cy="4622483"/>
          </a:xfrm>
        </p:spPr>
        <p:txBody>
          <a:bodyPr>
            <a:normAutofit fontScale="92500" lnSpcReduction="20000"/>
          </a:bodyPr>
          <a:lstStyle/>
          <a:p>
            <a:pPr marL="0" indent="0">
              <a:buNone/>
            </a:pPr>
            <a:r>
              <a:rPr lang="en-US" b="1" dirty="0"/>
              <a:t>Understanding Raw Data</a:t>
            </a:r>
          </a:p>
          <a:p>
            <a:pPr marL="0" indent="0">
              <a:buNone/>
            </a:pPr>
            <a:r>
              <a:rPr lang="en-US" b="1" dirty="0"/>
              <a:t> What is Raw Data?</a:t>
            </a:r>
            <a:br>
              <a:rPr lang="en-US" dirty="0"/>
            </a:br>
            <a:r>
              <a:rPr lang="en-US" dirty="0"/>
              <a:t>Raw data is the original, unprocessed facts and figures collected from various sources. It has not been organized, analyzed, or interpreted.</a:t>
            </a:r>
          </a:p>
          <a:p>
            <a:pPr marL="0" indent="0">
              <a:buNone/>
            </a:pPr>
            <a:r>
              <a:rPr lang="en-US" b="1" dirty="0"/>
              <a:t> Characteristics</a:t>
            </a:r>
            <a:endParaRPr lang="en-US" dirty="0"/>
          </a:p>
          <a:p>
            <a:r>
              <a:rPr lang="en-US" dirty="0"/>
              <a:t>Unstructured or poorly organized</a:t>
            </a:r>
          </a:p>
          <a:p>
            <a:r>
              <a:rPr lang="en-US" dirty="0"/>
              <a:t>May contain errors, duplicates, or missing values</a:t>
            </a:r>
          </a:p>
          <a:p>
            <a:r>
              <a:rPr lang="en-US" dirty="0"/>
              <a:t>Difficult to interpret directly</a:t>
            </a:r>
          </a:p>
          <a:p>
            <a:pPr marL="0" indent="0">
              <a:buNone/>
            </a:pPr>
            <a:r>
              <a:rPr lang="en-US" b="1" dirty="0"/>
              <a:t> Examples</a:t>
            </a:r>
            <a:endParaRPr lang="en-US" dirty="0"/>
          </a:p>
          <a:p>
            <a:r>
              <a:rPr lang="en-US" dirty="0"/>
              <a:t>Sales transaction records</a:t>
            </a:r>
          </a:p>
          <a:p>
            <a:r>
              <a:rPr lang="en-US" dirty="0"/>
              <a:t>Survey responses</a:t>
            </a:r>
          </a:p>
          <a:p>
            <a:r>
              <a:rPr lang="en-US" dirty="0"/>
              <a:t>Sensor readings</a:t>
            </a:r>
          </a:p>
          <a:p>
            <a:r>
              <a:rPr lang="en-US" dirty="0"/>
              <a:t>Website click logs</a:t>
            </a:r>
          </a:p>
          <a:p>
            <a:pPr marL="0" indent="0">
              <a:buNone/>
            </a:pPr>
            <a:endParaRPr lang="en-IN" dirty="0"/>
          </a:p>
        </p:txBody>
      </p:sp>
    </p:spTree>
    <p:extLst>
      <p:ext uri="{BB962C8B-B14F-4D97-AF65-F5344CB8AC3E}">
        <p14:creationId xmlns:p14="http://schemas.microsoft.com/office/powerpoint/2010/main" val="128018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DBCC8-231F-CDC6-9B27-189FC3365FB6}"/>
              </a:ext>
            </a:extLst>
          </p:cNvPr>
          <p:cNvSpPr>
            <a:spLocks noGrp="1"/>
          </p:cNvSpPr>
          <p:nvPr>
            <p:ph idx="1"/>
          </p:nvPr>
        </p:nvSpPr>
        <p:spPr>
          <a:xfrm>
            <a:off x="838200" y="223520"/>
            <a:ext cx="10515600" cy="5953443"/>
          </a:xfrm>
        </p:spPr>
        <p:txBody>
          <a:bodyPr>
            <a:normAutofit fontScale="92500" lnSpcReduction="10000"/>
          </a:bodyPr>
          <a:lstStyle/>
          <a:p>
            <a:r>
              <a:rPr lang="en-US" b="1" dirty="0"/>
              <a:t>Key Point:</a:t>
            </a:r>
            <a:br>
              <a:rPr lang="en-US" dirty="0"/>
            </a:br>
            <a:r>
              <a:rPr lang="en-US" dirty="0"/>
              <a:t>Raw data is the starting point for analysis but has limited value until processed.</a:t>
            </a:r>
          </a:p>
          <a:p>
            <a:pPr marL="0" indent="0">
              <a:buNone/>
            </a:pPr>
            <a:r>
              <a:rPr lang="en-US" b="1" dirty="0"/>
              <a:t> What is Processed Information?</a:t>
            </a:r>
          </a:p>
          <a:p>
            <a:r>
              <a:rPr lang="en-US" b="1" dirty="0"/>
              <a:t>Definition</a:t>
            </a:r>
            <a:br>
              <a:rPr lang="en-US" dirty="0"/>
            </a:br>
            <a:r>
              <a:rPr lang="en-US" dirty="0"/>
              <a:t>Processed information is data that has been cleaned, organized, analyzed, and presented in a meaningful way to support decision-making.</a:t>
            </a:r>
          </a:p>
          <a:p>
            <a:pPr marL="0" indent="0">
              <a:buNone/>
            </a:pPr>
            <a:r>
              <a:rPr lang="en-US" b="1" dirty="0"/>
              <a:t> Processing Activities</a:t>
            </a:r>
            <a:endParaRPr lang="en-US" dirty="0"/>
          </a:p>
          <a:p>
            <a:r>
              <a:rPr lang="en-US" dirty="0"/>
              <a:t>Data cleaning (removing errors and duplicates)</a:t>
            </a:r>
          </a:p>
          <a:p>
            <a:r>
              <a:rPr lang="en-US" dirty="0"/>
              <a:t>Sorting and organizing</a:t>
            </a:r>
          </a:p>
          <a:p>
            <a:r>
              <a:rPr lang="en-US" dirty="0"/>
              <a:t>Aggregation and calculation</a:t>
            </a:r>
          </a:p>
          <a:p>
            <a:r>
              <a:rPr lang="en-US" dirty="0"/>
              <a:t>Data analysis and visualization</a:t>
            </a:r>
          </a:p>
          <a:p>
            <a:pPr marL="0" indent="0">
              <a:buNone/>
            </a:pPr>
            <a:r>
              <a:rPr lang="en-US" b="1" dirty="0"/>
              <a:t> Examples</a:t>
            </a:r>
            <a:endParaRPr lang="en-US" dirty="0"/>
          </a:p>
          <a:p>
            <a:r>
              <a:rPr lang="en-US" dirty="0"/>
              <a:t>Monthly sales reports</a:t>
            </a:r>
          </a:p>
          <a:p>
            <a:r>
              <a:rPr lang="en-US" dirty="0"/>
              <a:t>Customer trend analysis</a:t>
            </a:r>
          </a:p>
          <a:p>
            <a:r>
              <a:rPr lang="en-US" dirty="0"/>
              <a:t>Performance dashboards</a:t>
            </a:r>
          </a:p>
          <a:p>
            <a:r>
              <a:rPr lang="en-US" dirty="0"/>
              <a:t>Summary charts and graphs</a:t>
            </a:r>
          </a:p>
          <a:p>
            <a:pPr marL="0" indent="0">
              <a:buNone/>
            </a:pPr>
            <a:endParaRPr lang="en-IN" dirty="0"/>
          </a:p>
        </p:txBody>
      </p:sp>
    </p:spTree>
    <p:extLst>
      <p:ext uri="{BB962C8B-B14F-4D97-AF65-F5344CB8AC3E}">
        <p14:creationId xmlns:p14="http://schemas.microsoft.com/office/powerpoint/2010/main" val="26182683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F9C54B-94C1-281F-4243-24FCED834738}"/>
              </a:ext>
            </a:extLst>
          </p:cNvPr>
          <p:cNvSpPr>
            <a:spLocks noGrp="1"/>
          </p:cNvSpPr>
          <p:nvPr>
            <p:ph idx="1"/>
          </p:nvPr>
        </p:nvSpPr>
        <p:spPr>
          <a:xfrm>
            <a:off x="838200" y="894080"/>
            <a:ext cx="10515600" cy="5282883"/>
          </a:xfrm>
        </p:spPr>
        <p:txBody>
          <a:bodyPr/>
          <a:lstStyle/>
          <a:p>
            <a:pPr marL="0" indent="0">
              <a:buNone/>
            </a:pPr>
            <a:r>
              <a:rPr lang="en-US" b="1" dirty="0"/>
              <a:t> Importance of Transformation</a:t>
            </a:r>
            <a:endParaRPr lang="en-US" dirty="0"/>
          </a:p>
          <a:p>
            <a:r>
              <a:rPr lang="en-US" dirty="0"/>
              <a:t>Converts data into actionable insights</a:t>
            </a:r>
          </a:p>
          <a:p>
            <a:r>
              <a:rPr lang="en-US" dirty="0"/>
              <a:t>Improves decision quality</a:t>
            </a:r>
          </a:p>
          <a:p>
            <a:r>
              <a:rPr lang="en-US" dirty="0"/>
              <a:t>Enhances business efficiency</a:t>
            </a:r>
          </a:p>
          <a:p>
            <a:pPr marL="0" indent="0">
              <a:buNone/>
            </a:pPr>
            <a:r>
              <a:rPr lang="en-US" b="1" dirty="0"/>
              <a:t> Conclusion:</a:t>
            </a:r>
            <a:br>
              <a:rPr lang="en-US" dirty="0"/>
            </a:br>
            <a:r>
              <a:rPr lang="en-US" dirty="0"/>
              <a:t>Raw data becomes valuable only after processing, transforming it into meaningful information for analysis and strategic decisions.</a:t>
            </a:r>
          </a:p>
          <a:p>
            <a:pPr marL="0" indent="0">
              <a:buNone/>
            </a:pPr>
            <a:endParaRPr lang="en-IN" dirty="0"/>
          </a:p>
        </p:txBody>
      </p:sp>
    </p:spTree>
    <p:extLst>
      <p:ext uri="{BB962C8B-B14F-4D97-AF65-F5344CB8AC3E}">
        <p14:creationId xmlns:p14="http://schemas.microsoft.com/office/powerpoint/2010/main" val="25822556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4444F-A4EA-8DE6-099E-7CD843201B49}"/>
              </a:ext>
            </a:extLst>
          </p:cNvPr>
          <p:cNvSpPr>
            <a:spLocks noGrp="1"/>
          </p:cNvSpPr>
          <p:nvPr>
            <p:ph type="title"/>
          </p:nvPr>
        </p:nvSpPr>
        <p:spPr/>
        <p:txBody>
          <a:bodyPr>
            <a:normAutofit/>
          </a:bodyPr>
          <a:lstStyle/>
          <a:p>
            <a:r>
              <a:rPr lang="en-IN" sz="4000" b="1" dirty="0">
                <a:latin typeface="+mn-lt"/>
              </a:rPr>
              <a:t>4.2 The Transformation </a:t>
            </a:r>
            <a:r>
              <a:rPr lang="en-IN" sz="4000" b="1" dirty="0" err="1">
                <a:latin typeface="+mn-lt"/>
              </a:rPr>
              <a:t>process:Data</a:t>
            </a:r>
            <a:r>
              <a:rPr lang="en-IN" sz="4000" b="1" dirty="0">
                <a:latin typeface="+mn-lt"/>
              </a:rPr>
              <a:t> to Information to </a:t>
            </a:r>
            <a:r>
              <a:rPr lang="en-IN" sz="4000" b="1" dirty="0" err="1">
                <a:latin typeface="+mn-lt"/>
              </a:rPr>
              <a:t>knowlede</a:t>
            </a:r>
            <a:endParaRPr lang="en-IN" sz="4000" b="1" dirty="0">
              <a:latin typeface="+mn-lt"/>
            </a:endParaRPr>
          </a:p>
        </p:txBody>
      </p:sp>
      <p:sp>
        <p:nvSpPr>
          <p:cNvPr id="3" name="Content Placeholder 2">
            <a:extLst>
              <a:ext uri="{FF2B5EF4-FFF2-40B4-BE49-F238E27FC236}">
                <a16:creationId xmlns:a16="http://schemas.microsoft.com/office/drawing/2014/main" id="{2C11E806-E5AA-65BD-1ADB-502A4874A616}"/>
              </a:ext>
            </a:extLst>
          </p:cNvPr>
          <p:cNvSpPr>
            <a:spLocks noGrp="1"/>
          </p:cNvSpPr>
          <p:nvPr>
            <p:ph idx="1"/>
          </p:nvPr>
        </p:nvSpPr>
        <p:spPr/>
        <p:txBody>
          <a:bodyPr>
            <a:normAutofit lnSpcReduction="10000"/>
          </a:bodyPr>
          <a:lstStyle/>
          <a:p>
            <a:pPr marL="0" indent="0">
              <a:buNone/>
            </a:pPr>
            <a:r>
              <a:rPr lang="en-US" b="1" dirty="0"/>
              <a:t>From Data to Information</a:t>
            </a:r>
          </a:p>
          <a:p>
            <a:pPr marL="0" indent="0">
              <a:buNone/>
            </a:pPr>
            <a:r>
              <a:rPr lang="en-US" b="1" dirty="0"/>
              <a:t> Data</a:t>
            </a:r>
            <a:endParaRPr lang="en-US" dirty="0"/>
          </a:p>
          <a:p>
            <a:r>
              <a:rPr lang="en-US" dirty="0"/>
              <a:t>Raw, unorganized facts and figures</a:t>
            </a:r>
          </a:p>
          <a:p>
            <a:r>
              <a:rPr lang="en-US" dirty="0"/>
              <a:t>Collected from transactions, surveys, sensors, or systems</a:t>
            </a:r>
          </a:p>
          <a:p>
            <a:r>
              <a:rPr lang="en-US" dirty="0"/>
              <a:t>Lacks context and meaning on its own</a:t>
            </a:r>
          </a:p>
          <a:p>
            <a:pPr marL="0" indent="0">
              <a:buNone/>
            </a:pPr>
            <a:r>
              <a:rPr lang="en-US" b="1" dirty="0"/>
              <a:t> Transformation: Data → Information</a:t>
            </a:r>
            <a:endParaRPr lang="en-US" dirty="0"/>
          </a:p>
          <a:p>
            <a:r>
              <a:rPr lang="en-US" dirty="0"/>
              <a:t>Cleaning and validating data</a:t>
            </a:r>
          </a:p>
          <a:p>
            <a:r>
              <a:rPr lang="en-US" dirty="0"/>
              <a:t>Organizing and structuring</a:t>
            </a:r>
          </a:p>
          <a:p>
            <a:r>
              <a:rPr lang="en-US" dirty="0"/>
              <a:t>Analyzing and summarizing</a:t>
            </a:r>
          </a:p>
          <a:p>
            <a:r>
              <a:rPr lang="en-US" dirty="0"/>
              <a:t>Adding context and relevance</a:t>
            </a:r>
          </a:p>
          <a:p>
            <a:pPr marL="0" indent="0">
              <a:buNone/>
            </a:pPr>
            <a:endParaRPr lang="en-IN" dirty="0"/>
          </a:p>
        </p:txBody>
      </p:sp>
    </p:spTree>
    <p:extLst>
      <p:ext uri="{BB962C8B-B14F-4D97-AF65-F5344CB8AC3E}">
        <p14:creationId xmlns:p14="http://schemas.microsoft.com/office/powerpoint/2010/main" val="28634543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D0BFF-9F1A-77DC-7A60-6D157CD3EA28}"/>
              </a:ext>
            </a:extLst>
          </p:cNvPr>
          <p:cNvSpPr>
            <a:spLocks noGrp="1"/>
          </p:cNvSpPr>
          <p:nvPr>
            <p:ph idx="1"/>
          </p:nvPr>
        </p:nvSpPr>
        <p:spPr>
          <a:xfrm>
            <a:off x="838200" y="467360"/>
            <a:ext cx="10515600" cy="5709603"/>
          </a:xfrm>
        </p:spPr>
        <p:txBody>
          <a:bodyPr/>
          <a:lstStyle/>
          <a:p>
            <a:pPr marL="0" indent="0">
              <a:buNone/>
            </a:pPr>
            <a:r>
              <a:rPr lang="en-US" b="1" dirty="0"/>
              <a:t> Information</a:t>
            </a:r>
            <a:endParaRPr lang="en-US" dirty="0"/>
          </a:p>
          <a:p>
            <a:r>
              <a:rPr lang="en-US" dirty="0"/>
              <a:t>Processed and meaningful data</a:t>
            </a:r>
          </a:p>
          <a:p>
            <a:r>
              <a:rPr lang="en-US" dirty="0"/>
              <a:t>Provides answers to basic questions (who, what, when, where)</a:t>
            </a:r>
          </a:p>
          <a:p>
            <a:r>
              <a:rPr lang="en-US" dirty="0"/>
              <a:t>Supports reporting and performance tracking</a:t>
            </a:r>
          </a:p>
          <a:p>
            <a:pPr marL="0" indent="0">
              <a:buNone/>
            </a:pPr>
            <a:r>
              <a:rPr lang="en-US" b="1" dirty="0"/>
              <a:t> Example:</a:t>
            </a:r>
            <a:br>
              <a:rPr lang="en-US" dirty="0"/>
            </a:br>
            <a:r>
              <a:rPr lang="en-US" dirty="0"/>
              <a:t>Raw sales entries → Total monthly sales report.</a:t>
            </a:r>
          </a:p>
          <a:p>
            <a:pPr marL="0" indent="0">
              <a:buNone/>
            </a:pPr>
            <a:endParaRPr lang="en-IN" dirty="0"/>
          </a:p>
        </p:txBody>
      </p:sp>
      <p:pic>
        <p:nvPicPr>
          <p:cNvPr id="5" name="Picture 4">
            <a:extLst>
              <a:ext uri="{FF2B5EF4-FFF2-40B4-BE49-F238E27FC236}">
                <a16:creationId xmlns:a16="http://schemas.microsoft.com/office/drawing/2014/main" id="{38C5A1C8-F8E2-47ED-378E-0C447738CFB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89475" y="3429000"/>
            <a:ext cx="5048250" cy="272415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640958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0B379-FF82-A053-906C-D598035647C8}"/>
              </a:ext>
            </a:extLst>
          </p:cNvPr>
          <p:cNvSpPr>
            <a:spLocks noGrp="1"/>
          </p:cNvSpPr>
          <p:nvPr>
            <p:ph type="title"/>
          </p:nvPr>
        </p:nvSpPr>
        <p:spPr>
          <a:xfrm>
            <a:off x="838200" y="365125"/>
            <a:ext cx="10515600" cy="915035"/>
          </a:xfrm>
        </p:spPr>
        <p:txBody>
          <a:bodyPr>
            <a:normAutofit fontScale="90000"/>
          </a:bodyPr>
          <a:lstStyle/>
          <a:p>
            <a:r>
              <a:rPr lang="en-IN" sz="4000" b="1" dirty="0">
                <a:latin typeface="+mn-lt"/>
              </a:rPr>
              <a:t>4.3 Value of Information in Decision Making</a:t>
            </a:r>
          </a:p>
        </p:txBody>
      </p:sp>
      <p:sp>
        <p:nvSpPr>
          <p:cNvPr id="3" name="Content Placeholder 2">
            <a:extLst>
              <a:ext uri="{FF2B5EF4-FFF2-40B4-BE49-F238E27FC236}">
                <a16:creationId xmlns:a16="http://schemas.microsoft.com/office/drawing/2014/main" id="{6E5B4E4F-4327-FAA9-FBFD-14772ABCDCF4}"/>
              </a:ext>
            </a:extLst>
          </p:cNvPr>
          <p:cNvSpPr>
            <a:spLocks noGrp="1"/>
          </p:cNvSpPr>
          <p:nvPr>
            <p:ph idx="1"/>
          </p:nvPr>
        </p:nvSpPr>
        <p:spPr>
          <a:xfrm>
            <a:off x="838200" y="1280160"/>
            <a:ext cx="10515600" cy="4896803"/>
          </a:xfrm>
        </p:spPr>
        <p:txBody>
          <a:bodyPr>
            <a:normAutofit fontScale="92500" lnSpcReduction="10000"/>
          </a:bodyPr>
          <a:lstStyle/>
          <a:p>
            <a:pPr marL="0" indent="0">
              <a:buNone/>
            </a:pPr>
            <a:r>
              <a:rPr lang="en-US" b="1" dirty="0"/>
              <a:t> What is the Value of Information?</a:t>
            </a:r>
            <a:br>
              <a:rPr lang="en-US" dirty="0"/>
            </a:br>
            <a:r>
              <a:rPr lang="en-US" dirty="0"/>
              <a:t>The value of information lies in its ability to reduce uncertainty, improve</a:t>
            </a:r>
          </a:p>
          <a:p>
            <a:pPr marL="0" indent="0">
              <a:buNone/>
            </a:pPr>
            <a:r>
              <a:rPr lang="en-US" dirty="0"/>
              <a:t>  understanding, and support better business decisions.</a:t>
            </a:r>
          </a:p>
          <a:p>
            <a:pPr marL="0" indent="0">
              <a:buNone/>
            </a:pPr>
            <a:r>
              <a:rPr lang="en-US" b="1" dirty="0"/>
              <a:t> How Information Adds Value</a:t>
            </a:r>
            <a:endParaRPr lang="en-US" dirty="0"/>
          </a:p>
          <a:p>
            <a:r>
              <a:rPr lang="en-US" dirty="0"/>
              <a:t>Provides accurate and timely insights</a:t>
            </a:r>
          </a:p>
          <a:p>
            <a:r>
              <a:rPr lang="en-US" dirty="0"/>
              <a:t>Helps identify trends, risks, and opportunities</a:t>
            </a:r>
          </a:p>
          <a:p>
            <a:r>
              <a:rPr lang="en-US" dirty="0"/>
              <a:t>Supports planning, forecasting, and strategy</a:t>
            </a:r>
          </a:p>
          <a:p>
            <a:r>
              <a:rPr lang="en-US" dirty="0"/>
              <a:t>Improves operational efficiency and performance</a:t>
            </a:r>
          </a:p>
          <a:p>
            <a:pPr marL="0" indent="0">
              <a:buNone/>
            </a:pPr>
            <a:r>
              <a:rPr lang="en-US" b="1" dirty="0"/>
              <a:t> Benefits in Decision Making</a:t>
            </a:r>
            <a:endParaRPr lang="en-US" dirty="0"/>
          </a:p>
          <a:p>
            <a:r>
              <a:rPr lang="en-US" dirty="0"/>
              <a:t>Reduces guesswork and uncertainty</a:t>
            </a:r>
          </a:p>
          <a:p>
            <a:r>
              <a:rPr lang="en-US" dirty="0"/>
              <a:t>Enables faster and more confident decisions</a:t>
            </a:r>
          </a:p>
          <a:p>
            <a:r>
              <a:rPr lang="en-US" dirty="0"/>
              <a:t>Minimizes risks and potential losses</a:t>
            </a:r>
          </a:p>
          <a:p>
            <a:r>
              <a:rPr lang="en-US" dirty="0"/>
              <a:t>Enhances problem-solving and resource allocation</a:t>
            </a:r>
          </a:p>
          <a:p>
            <a:pPr marL="0" indent="0">
              <a:buNone/>
            </a:pPr>
            <a:endParaRPr lang="en-IN" dirty="0"/>
          </a:p>
        </p:txBody>
      </p:sp>
    </p:spTree>
    <p:extLst>
      <p:ext uri="{BB962C8B-B14F-4D97-AF65-F5344CB8AC3E}">
        <p14:creationId xmlns:p14="http://schemas.microsoft.com/office/powerpoint/2010/main" val="2579035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EADB8-A588-D251-C848-0C55F9F8A543}"/>
              </a:ext>
            </a:extLst>
          </p:cNvPr>
          <p:cNvSpPr>
            <a:spLocks noGrp="1"/>
          </p:cNvSpPr>
          <p:nvPr>
            <p:ph idx="1"/>
          </p:nvPr>
        </p:nvSpPr>
        <p:spPr>
          <a:xfrm>
            <a:off x="838200" y="436880"/>
            <a:ext cx="10515600" cy="5740083"/>
          </a:xfrm>
        </p:spPr>
        <p:txBody>
          <a:bodyPr/>
          <a:lstStyle/>
          <a:p>
            <a:pPr marL="0" indent="0">
              <a:buNone/>
            </a:pPr>
            <a:r>
              <a:rPr lang="en-US" b="1" dirty="0"/>
              <a:t> Characteristics of Valuable Information</a:t>
            </a:r>
            <a:endParaRPr lang="en-US" dirty="0"/>
          </a:p>
          <a:p>
            <a:r>
              <a:rPr lang="en-US" dirty="0"/>
              <a:t>Accurate and reliable</a:t>
            </a:r>
          </a:p>
          <a:p>
            <a:r>
              <a:rPr lang="en-US" dirty="0"/>
              <a:t>Relevant to the decision context</a:t>
            </a:r>
          </a:p>
          <a:p>
            <a:r>
              <a:rPr lang="en-US" dirty="0"/>
              <a:t>Timely and up-to-date</a:t>
            </a:r>
          </a:p>
          <a:p>
            <a:r>
              <a:rPr lang="en-US" dirty="0"/>
              <a:t>Clear and easy to understand</a:t>
            </a:r>
          </a:p>
          <a:p>
            <a:pPr marL="0" indent="0">
              <a:buNone/>
            </a:pPr>
            <a:r>
              <a:rPr lang="en-US" b="1" dirty="0"/>
              <a:t> Example</a:t>
            </a:r>
            <a:br>
              <a:rPr lang="en-US" dirty="0"/>
            </a:br>
            <a:r>
              <a:rPr lang="en-US" dirty="0"/>
              <a:t>Sales performance data helps managers adjust pricing, inventory, or marketing strategies.</a:t>
            </a:r>
          </a:p>
          <a:p>
            <a:pPr marL="0" indent="0">
              <a:buNone/>
            </a:pPr>
            <a:r>
              <a:rPr lang="en-US" b="1" dirty="0"/>
              <a:t> Conclusion:</a:t>
            </a:r>
            <a:br>
              <a:rPr lang="en-US" dirty="0"/>
            </a:br>
            <a:r>
              <a:rPr lang="en-US" dirty="0"/>
              <a:t>High-quality information empowers organizations to make informed, timely, and effective decisions that improve overall business outcomes.</a:t>
            </a:r>
          </a:p>
          <a:p>
            <a:endParaRPr lang="en-IN" dirty="0"/>
          </a:p>
        </p:txBody>
      </p:sp>
    </p:spTree>
    <p:extLst>
      <p:ext uri="{BB962C8B-B14F-4D97-AF65-F5344CB8AC3E}">
        <p14:creationId xmlns:p14="http://schemas.microsoft.com/office/powerpoint/2010/main" val="40278827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32FE9-6E82-A6B7-2BEC-2DC7FADE2007}"/>
              </a:ext>
            </a:extLst>
          </p:cNvPr>
          <p:cNvSpPr>
            <a:spLocks noGrp="1"/>
          </p:cNvSpPr>
          <p:nvPr>
            <p:ph type="title"/>
          </p:nvPr>
        </p:nvSpPr>
        <p:spPr>
          <a:xfrm>
            <a:off x="563880" y="2387917"/>
            <a:ext cx="10515600" cy="1325563"/>
          </a:xfrm>
        </p:spPr>
        <p:txBody>
          <a:bodyPr/>
          <a:lstStyle/>
          <a:p>
            <a:r>
              <a:rPr lang="en-IN" b="1" dirty="0">
                <a:latin typeface="+mn-lt"/>
              </a:rPr>
              <a:t>5</a:t>
            </a:r>
            <a:r>
              <a:rPr lang="en-US" b="1" dirty="0">
                <a:latin typeface="+mn-lt"/>
              </a:rPr>
              <a:t>. Overview of Data-Driven Decision Making</a:t>
            </a:r>
            <a:br>
              <a:rPr lang="en-US" dirty="0"/>
            </a:br>
            <a:endParaRPr lang="en-IN" dirty="0"/>
          </a:p>
        </p:txBody>
      </p:sp>
    </p:spTree>
    <p:extLst>
      <p:ext uri="{BB962C8B-B14F-4D97-AF65-F5344CB8AC3E}">
        <p14:creationId xmlns:p14="http://schemas.microsoft.com/office/powerpoint/2010/main" val="42829166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8E5434-3227-BB0E-D507-8ED26FAD55D5}"/>
              </a:ext>
            </a:extLst>
          </p:cNvPr>
          <p:cNvSpPr>
            <a:spLocks noGrp="1"/>
          </p:cNvSpPr>
          <p:nvPr>
            <p:ph idx="1"/>
          </p:nvPr>
        </p:nvSpPr>
        <p:spPr>
          <a:xfrm>
            <a:off x="838200" y="335280"/>
            <a:ext cx="10515600" cy="5841683"/>
          </a:xfrm>
        </p:spPr>
        <p:txBody>
          <a:bodyPr>
            <a:normAutofit/>
          </a:bodyPr>
          <a:lstStyle/>
          <a:p>
            <a:pPr marL="0" indent="0">
              <a:buNone/>
            </a:pPr>
            <a:r>
              <a:rPr lang="en-US" b="1" dirty="0"/>
              <a:t> Introduction to Data-Driven Decision Making</a:t>
            </a:r>
          </a:p>
          <a:p>
            <a:pPr marL="0" indent="0">
              <a:buNone/>
            </a:pPr>
            <a:r>
              <a:rPr lang="en-US" b="1" dirty="0"/>
              <a:t> What is Data-Driven Decision Making (DDDM)?</a:t>
            </a:r>
            <a:br>
              <a:rPr lang="en-US" dirty="0"/>
            </a:br>
            <a:r>
              <a:rPr lang="en-US" dirty="0"/>
              <a:t>Data-Driven Decision Making is the practice of using data analysis and evidence to guide business decisions instead of relying only on intuition or experience.</a:t>
            </a:r>
          </a:p>
          <a:p>
            <a:pPr marL="0" indent="0">
              <a:buNone/>
            </a:pPr>
            <a:r>
              <a:rPr lang="en-US" b="1" dirty="0"/>
              <a:t> Key Idea</a:t>
            </a:r>
            <a:endParaRPr lang="en-US" dirty="0"/>
          </a:p>
          <a:p>
            <a:r>
              <a:rPr lang="en-US" dirty="0"/>
              <a:t>Collect relevant data</a:t>
            </a:r>
          </a:p>
          <a:p>
            <a:r>
              <a:rPr lang="en-US" dirty="0"/>
              <a:t>Analyze it to find insights</a:t>
            </a:r>
          </a:p>
          <a:p>
            <a:r>
              <a:rPr lang="en-US" dirty="0"/>
              <a:t>Use insights to support actions and strategies</a:t>
            </a:r>
          </a:p>
          <a:p>
            <a:pPr marL="0" indent="0">
              <a:buNone/>
            </a:pPr>
            <a:r>
              <a:rPr lang="en-US" b="1" dirty="0"/>
              <a:t> Importance</a:t>
            </a:r>
            <a:endParaRPr lang="en-US" dirty="0"/>
          </a:p>
          <a:p>
            <a:r>
              <a:rPr lang="en-US" dirty="0"/>
              <a:t>Improves accuracy and objectivity</a:t>
            </a:r>
          </a:p>
          <a:p>
            <a:r>
              <a:rPr lang="en-US" dirty="0"/>
              <a:t>Helps organizations respond quickly to changes</a:t>
            </a:r>
          </a:p>
          <a:p>
            <a:r>
              <a:rPr lang="en-US" dirty="0"/>
              <a:t>Supports better planning and performance improvement</a:t>
            </a:r>
          </a:p>
          <a:p>
            <a:pPr marL="0" indent="0">
              <a:buNone/>
            </a:pPr>
            <a:endParaRPr lang="en-IN" dirty="0"/>
          </a:p>
        </p:txBody>
      </p:sp>
    </p:spTree>
    <p:extLst>
      <p:ext uri="{BB962C8B-B14F-4D97-AF65-F5344CB8AC3E}">
        <p14:creationId xmlns:p14="http://schemas.microsoft.com/office/powerpoint/2010/main" val="10533001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3CF834-3BA1-FC3E-AD50-10AEED07E7CA}"/>
              </a:ext>
            </a:extLst>
          </p:cNvPr>
          <p:cNvSpPr>
            <a:spLocks noGrp="1"/>
          </p:cNvSpPr>
          <p:nvPr>
            <p:ph idx="1"/>
          </p:nvPr>
        </p:nvSpPr>
        <p:spPr>
          <a:xfrm>
            <a:off x="838200" y="375920"/>
            <a:ext cx="10515600" cy="5801043"/>
          </a:xfrm>
        </p:spPr>
        <p:txBody>
          <a:bodyPr/>
          <a:lstStyle/>
          <a:p>
            <a:pPr marL="0" indent="0">
              <a:buNone/>
            </a:pPr>
            <a:r>
              <a:rPr lang="en-US" b="1" dirty="0"/>
              <a:t>5.1 </a:t>
            </a:r>
            <a:r>
              <a:rPr lang="en-US" b="1" u="sng" dirty="0"/>
              <a:t>Principles of Data-Driven Decision Making</a:t>
            </a:r>
          </a:p>
          <a:p>
            <a:pPr marL="0" indent="0">
              <a:buNone/>
            </a:pPr>
            <a:r>
              <a:rPr lang="en-US" b="1" dirty="0"/>
              <a:t> Core Principles</a:t>
            </a:r>
            <a:endParaRPr lang="en-US" dirty="0"/>
          </a:p>
          <a:p>
            <a:r>
              <a:rPr lang="en-US" b="1" dirty="0"/>
              <a:t>Evidence-Based Decisions</a:t>
            </a:r>
            <a:r>
              <a:rPr lang="en-US" dirty="0"/>
              <a:t> – Decisions supported by facts and analysis</a:t>
            </a:r>
          </a:p>
          <a:p>
            <a:r>
              <a:rPr lang="en-US" b="1" dirty="0"/>
              <a:t>Data Quality</a:t>
            </a:r>
            <a:r>
              <a:rPr lang="en-US" dirty="0"/>
              <a:t> – Accurate, complete, and reliable data is essential</a:t>
            </a:r>
          </a:p>
          <a:p>
            <a:r>
              <a:rPr lang="en-US" b="1" dirty="0"/>
              <a:t>Relevance</a:t>
            </a:r>
            <a:r>
              <a:rPr lang="en-US" dirty="0"/>
              <a:t> – Use data that directly relates to the business problem</a:t>
            </a:r>
          </a:p>
          <a:p>
            <a:r>
              <a:rPr lang="en-US" b="1" dirty="0"/>
              <a:t>Timeliness</a:t>
            </a:r>
            <a:r>
              <a:rPr lang="en-US" dirty="0"/>
              <a:t> – Decisions require up-to-date information</a:t>
            </a:r>
          </a:p>
          <a:p>
            <a:r>
              <a:rPr lang="en-US" b="1" dirty="0"/>
              <a:t>Continuous Improvement</a:t>
            </a:r>
            <a:r>
              <a:rPr lang="en-US" dirty="0"/>
              <a:t> – Monitor results and refine decisions over time</a:t>
            </a:r>
          </a:p>
          <a:p>
            <a:pPr marL="0" indent="0">
              <a:buNone/>
            </a:pPr>
            <a:r>
              <a:rPr lang="en-US" b="1" dirty="0"/>
              <a:t> Focus:</a:t>
            </a:r>
            <a:br>
              <a:rPr lang="en-US" dirty="0"/>
            </a:br>
            <a:r>
              <a:rPr lang="en-US" dirty="0"/>
              <a:t>Use data as a strategic asset to guide actions and measure outcomes.</a:t>
            </a:r>
          </a:p>
          <a:p>
            <a:endParaRPr lang="en-IN" dirty="0"/>
          </a:p>
        </p:txBody>
      </p:sp>
    </p:spTree>
    <p:extLst>
      <p:ext uri="{BB962C8B-B14F-4D97-AF65-F5344CB8AC3E}">
        <p14:creationId xmlns:p14="http://schemas.microsoft.com/office/powerpoint/2010/main" val="36867636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B8D342-F127-9059-BADE-21C1ADF6DEF8}"/>
              </a:ext>
            </a:extLst>
          </p:cNvPr>
          <p:cNvSpPr>
            <a:spLocks noGrp="1"/>
          </p:cNvSpPr>
          <p:nvPr>
            <p:ph idx="1"/>
          </p:nvPr>
        </p:nvSpPr>
        <p:spPr>
          <a:xfrm>
            <a:off x="838200" y="386080"/>
            <a:ext cx="10515600" cy="5790883"/>
          </a:xfrm>
        </p:spPr>
        <p:txBody>
          <a:bodyPr/>
          <a:lstStyle/>
          <a:p>
            <a:pPr marL="0" indent="0">
              <a:buNone/>
            </a:pPr>
            <a:r>
              <a:rPr lang="en-US" b="1" dirty="0"/>
              <a:t>5.2 </a:t>
            </a:r>
            <a:r>
              <a:rPr lang="en-US" b="1" u="sng" dirty="0"/>
              <a:t>Benefits of Using Data for Decisions</a:t>
            </a:r>
          </a:p>
          <a:p>
            <a:r>
              <a:rPr lang="en-US" dirty="0"/>
              <a:t>Reduces uncertainty and guesswork</a:t>
            </a:r>
          </a:p>
          <a:p>
            <a:r>
              <a:rPr lang="en-US" dirty="0"/>
              <a:t>Improves operational efficiency and productivity</a:t>
            </a:r>
          </a:p>
          <a:p>
            <a:r>
              <a:rPr lang="en-US" dirty="0"/>
              <a:t>Identifies trends, patterns, and opportunities</a:t>
            </a:r>
          </a:p>
          <a:p>
            <a:r>
              <a:rPr lang="en-US" dirty="0"/>
              <a:t>Enhances customer understanding and satisfaction</a:t>
            </a:r>
          </a:p>
          <a:p>
            <a:r>
              <a:rPr lang="en-US" dirty="0"/>
              <a:t>Supports better risk management</a:t>
            </a:r>
          </a:p>
          <a:p>
            <a:r>
              <a:rPr lang="en-US" dirty="0"/>
              <a:t>Enables faster and more confident decision-making</a:t>
            </a:r>
          </a:p>
          <a:p>
            <a:r>
              <a:rPr lang="en-US" dirty="0"/>
              <a:t>Improves competitive advantage</a:t>
            </a:r>
          </a:p>
          <a:p>
            <a:pPr marL="0" indent="0">
              <a:buNone/>
            </a:pPr>
            <a:r>
              <a:rPr lang="en-US" b="1" dirty="0"/>
              <a:t> Example:</a:t>
            </a:r>
            <a:br>
              <a:rPr lang="en-US" dirty="0"/>
            </a:br>
            <a:r>
              <a:rPr lang="en-US" dirty="0"/>
              <a:t>Analyzing customer purchase data to optimize inventory and marketing campaigns.</a:t>
            </a:r>
          </a:p>
          <a:p>
            <a:pPr marL="0" indent="0">
              <a:buNone/>
            </a:pPr>
            <a:endParaRPr lang="en-IN" dirty="0"/>
          </a:p>
        </p:txBody>
      </p:sp>
    </p:spTree>
    <p:extLst>
      <p:ext uri="{BB962C8B-B14F-4D97-AF65-F5344CB8AC3E}">
        <p14:creationId xmlns:p14="http://schemas.microsoft.com/office/powerpoint/2010/main" val="19846798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81FA6B-7EE9-E90E-C844-6D58E4521B8C}"/>
              </a:ext>
            </a:extLst>
          </p:cNvPr>
          <p:cNvSpPr>
            <a:spLocks noGrp="1"/>
          </p:cNvSpPr>
          <p:nvPr>
            <p:ph idx="1"/>
          </p:nvPr>
        </p:nvSpPr>
        <p:spPr>
          <a:xfrm>
            <a:off x="838200" y="264160"/>
            <a:ext cx="10515600" cy="5912803"/>
          </a:xfrm>
        </p:spPr>
        <p:txBody>
          <a:bodyPr/>
          <a:lstStyle/>
          <a:p>
            <a:pPr marL="0" indent="0">
              <a:buNone/>
            </a:pPr>
            <a:r>
              <a:rPr lang="en-US" b="1" dirty="0"/>
              <a:t>5.3 </a:t>
            </a:r>
            <a:r>
              <a:rPr lang="en-US" b="1" u="sng" dirty="0"/>
              <a:t>Steps in the Data-Driven Decision Process</a:t>
            </a:r>
          </a:p>
          <a:p>
            <a:r>
              <a:rPr lang="en-US" b="1" dirty="0"/>
              <a:t>Define the Problem or Objective</a:t>
            </a:r>
            <a:endParaRPr lang="en-US" dirty="0"/>
          </a:p>
          <a:p>
            <a:r>
              <a:rPr lang="en-US" b="1" dirty="0"/>
              <a:t>Collect Relevant Data</a:t>
            </a:r>
            <a:r>
              <a:rPr lang="en-US" dirty="0"/>
              <a:t> (internal and external sources)</a:t>
            </a:r>
          </a:p>
          <a:p>
            <a:r>
              <a:rPr lang="en-US" b="1" dirty="0"/>
              <a:t>Clean and Prepare the Data</a:t>
            </a:r>
            <a:endParaRPr lang="en-US" dirty="0"/>
          </a:p>
          <a:p>
            <a:r>
              <a:rPr lang="en-US" b="1" dirty="0"/>
              <a:t>Analyze and Interpret the Data</a:t>
            </a:r>
            <a:endParaRPr lang="en-US" dirty="0"/>
          </a:p>
          <a:p>
            <a:r>
              <a:rPr lang="en-US" b="1" dirty="0"/>
              <a:t>Generate Insights and Alternatives</a:t>
            </a:r>
            <a:endParaRPr lang="en-US" dirty="0"/>
          </a:p>
          <a:p>
            <a:r>
              <a:rPr lang="en-US" b="1" dirty="0"/>
              <a:t>Make and Implement the Decision</a:t>
            </a:r>
            <a:endParaRPr lang="en-US" dirty="0"/>
          </a:p>
          <a:p>
            <a:r>
              <a:rPr lang="en-US" b="1" dirty="0"/>
              <a:t>Monitor Results and Improve</a:t>
            </a:r>
            <a:endParaRPr lang="en-US" dirty="0"/>
          </a:p>
          <a:p>
            <a:pPr marL="0" indent="0">
              <a:buNone/>
            </a:pPr>
            <a:r>
              <a:rPr lang="en-US" b="1" dirty="0"/>
              <a:t> Goal:</a:t>
            </a:r>
            <a:br>
              <a:rPr lang="en-US" dirty="0"/>
            </a:br>
            <a:r>
              <a:rPr lang="en-US" dirty="0"/>
              <a:t>Turn raw data into actionable insights that drive measurable outcomes.</a:t>
            </a:r>
          </a:p>
          <a:p>
            <a:endParaRPr lang="en-IN" dirty="0"/>
          </a:p>
        </p:txBody>
      </p:sp>
    </p:spTree>
    <p:extLst>
      <p:ext uri="{BB962C8B-B14F-4D97-AF65-F5344CB8AC3E}">
        <p14:creationId xmlns:p14="http://schemas.microsoft.com/office/powerpoint/2010/main" val="13726057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1D77BB-9950-9B5B-2D92-79AF92B9AA21}"/>
              </a:ext>
            </a:extLst>
          </p:cNvPr>
          <p:cNvSpPr>
            <a:spLocks noGrp="1"/>
          </p:cNvSpPr>
          <p:nvPr>
            <p:ph idx="1"/>
          </p:nvPr>
        </p:nvSpPr>
        <p:spPr>
          <a:xfrm>
            <a:off x="838200" y="294640"/>
            <a:ext cx="10515600" cy="5882323"/>
          </a:xfrm>
        </p:spPr>
        <p:txBody>
          <a:bodyPr/>
          <a:lstStyle/>
          <a:p>
            <a:pPr marL="0" indent="0">
              <a:buNone/>
            </a:pPr>
            <a:r>
              <a:rPr lang="en-US" b="1" dirty="0"/>
              <a:t>5.4 </a:t>
            </a:r>
            <a:r>
              <a:rPr lang="en-US" b="1" u="sng" dirty="0"/>
              <a:t>Challenges and Pitfalls in Data-Driven Approaches</a:t>
            </a:r>
          </a:p>
          <a:p>
            <a:r>
              <a:rPr lang="en-US" dirty="0"/>
              <a:t>Poor data quality or incomplete data</a:t>
            </a:r>
          </a:p>
          <a:p>
            <a:r>
              <a:rPr lang="en-US" dirty="0"/>
              <a:t>Lack of proper tools or technical skills</a:t>
            </a:r>
          </a:p>
          <a:p>
            <a:r>
              <a:rPr lang="en-US" dirty="0"/>
              <a:t>Data overload and misinterpretation</a:t>
            </a:r>
          </a:p>
          <a:p>
            <a:r>
              <a:rPr lang="en-US" dirty="0"/>
              <a:t>Bias in data or analysis</a:t>
            </a:r>
          </a:p>
          <a:p>
            <a:r>
              <a:rPr lang="en-US" dirty="0"/>
              <a:t>Privacy and security concerns</a:t>
            </a:r>
          </a:p>
          <a:p>
            <a:r>
              <a:rPr lang="en-US" dirty="0"/>
              <a:t>Resistance to change within the organization</a:t>
            </a:r>
          </a:p>
          <a:p>
            <a:r>
              <a:rPr lang="en-US" dirty="0"/>
              <a:t>Over-reliance on data without business context</a:t>
            </a:r>
          </a:p>
          <a:p>
            <a:pPr marL="0" indent="0">
              <a:buNone/>
            </a:pPr>
            <a:r>
              <a:rPr lang="en-US" b="1" dirty="0"/>
              <a:t> Conclusion:</a:t>
            </a:r>
            <a:br>
              <a:rPr lang="en-US" dirty="0"/>
            </a:br>
            <a:r>
              <a:rPr lang="en-US" dirty="0"/>
              <a:t>While data-driven decision making improves accuracy and performance, success depends on good data quality, proper analysis, and balanced business judgment.</a:t>
            </a:r>
          </a:p>
          <a:p>
            <a:endParaRPr lang="en-IN" dirty="0"/>
          </a:p>
        </p:txBody>
      </p:sp>
    </p:spTree>
    <p:extLst>
      <p:ext uri="{BB962C8B-B14F-4D97-AF65-F5344CB8AC3E}">
        <p14:creationId xmlns:p14="http://schemas.microsoft.com/office/powerpoint/2010/main" val="14390373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A4840-0242-6DFF-4399-703A2D33811D}"/>
              </a:ext>
            </a:extLst>
          </p:cNvPr>
          <p:cNvSpPr>
            <a:spLocks noGrp="1"/>
          </p:cNvSpPr>
          <p:nvPr>
            <p:ph type="title"/>
          </p:nvPr>
        </p:nvSpPr>
        <p:spPr>
          <a:xfrm>
            <a:off x="838200" y="2498725"/>
            <a:ext cx="10515600" cy="1325563"/>
          </a:xfrm>
        </p:spPr>
        <p:txBody>
          <a:bodyPr>
            <a:normAutofit fontScale="90000"/>
          </a:bodyPr>
          <a:lstStyle/>
          <a:p>
            <a:r>
              <a:rPr lang="en-US" sz="4800" b="1" dirty="0">
                <a:latin typeface="+mn-lt"/>
              </a:rPr>
              <a:t>6. Case Discussions/ Real- Life Examples</a:t>
            </a:r>
            <a:endParaRPr lang="en-IN" sz="4800" b="1" dirty="0">
              <a:latin typeface="+mn-lt"/>
            </a:endParaRPr>
          </a:p>
        </p:txBody>
      </p:sp>
    </p:spTree>
    <p:extLst>
      <p:ext uri="{BB962C8B-B14F-4D97-AF65-F5344CB8AC3E}">
        <p14:creationId xmlns:p14="http://schemas.microsoft.com/office/powerpoint/2010/main" val="28522788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F260C-EF17-4311-2622-18949F60895B}"/>
              </a:ext>
            </a:extLst>
          </p:cNvPr>
          <p:cNvSpPr>
            <a:spLocks noGrp="1"/>
          </p:cNvSpPr>
          <p:nvPr>
            <p:ph type="title"/>
          </p:nvPr>
        </p:nvSpPr>
        <p:spPr>
          <a:xfrm>
            <a:off x="706120" y="56197"/>
            <a:ext cx="10515600" cy="1020763"/>
          </a:xfrm>
        </p:spPr>
        <p:txBody>
          <a:bodyPr>
            <a:normAutofit/>
          </a:bodyPr>
          <a:lstStyle/>
          <a:p>
            <a:r>
              <a:rPr lang="en-US" sz="4000" b="1" dirty="0">
                <a:latin typeface="+mn-lt"/>
              </a:rPr>
              <a:t>6.1 Analysis of Business </a:t>
            </a:r>
            <a:r>
              <a:rPr lang="en-US" sz="4000" b="1" dirty="0" err="1">
                <a:latin typeface="+mn-lt"/>
              </a:rPr>
              <a:t>Scenaries</a:t>
            </a:r>
            <a:endParaRPr lang="en-IN" sz="4000" b="1" dirty="0">
              <a:latin typeface="+mn-lt"/>
            </a:endParaRPr>
          </a:p>
        </p:txBody>
      </p:sp>
      <p:sp>
        <p:nvSpPr>
          <p:cNvPr id="3" name="Content Placeholder 2">
            <a:extLst>
              <a:ext uri="{FF2B5EF4-FFF2-40B4-BE49-F238E27FC236}">
                <a16:creationId xmlns:a16="http://schemas.microsoft.com/office/drawing/2014/main" id="{830C7EF1-111E-20F0-15F7-D799E72CB2D6}"/>
              </a:ext>
            </a:extLst>
          </p:cNvPr>
          <p:cNvSpPr>
            <a:spLocks noGrp="1"/>
          </p:cNvSpPr>
          <p:nvPr>
            <p:ph idx="1"/>
          </p:nvPr>
        </p:nvSpPr>
        <p:spPr>
          <a:xfrm>
            <a:off x="838200" y="975360"/>
            <a:ext cx="10515600" cy="5201603"/>
          </a:xfrm>
        </p:spPr>
        <p:txBody>
          <a:bodyPr/>
          <a:lstStyle/>
          <a:p>
            <a:pPr marL="0" indent="0">
              <a:buNone/>
            </a:pPr>
            <a:r>
              <a:rPr lang="en-US" b="1" dirty="0"/>
              <a:t>Scenario analysis</a:t>
            </a:r>
            <a:r>
              <a:rPr lang="en-US" dirty="0"/>
              <a:t> in business is the process of creating and evaluating different possible future situations (scenarios) — such as best case, worst case, and most likely case — to understand their impact on the organization and make better decisions.</a:t>
            </a:r>
          </a:p>
          <a:p>
            <a:pPr marL="0" indent="0">
              <a:buNone/>
            </a:pPr>
            <a:r>
              <a:rPr lang="en-IN" b="1" dirty="0"/>
              <a:t>Purpose of Scenario Analysis:</a:t>
            </a:r>
          </a:p>
          <a:p>
            <a:r>
              <a:rPr lang="en-IN" dirty="0"/>
              <a:t>To </a:t>
            </a:r>
            <a:r>
              <a:rPr lang="en-IN" b="1" dirty="0"/>
              <a:t>anticipate risks and opportunities</a:t>
            </a:r>
            <a:endParaRPr lang="en-IN" dirty="0"/>
          </a:p>
          <a:p>
            <a:r>
              <a:rPr lang="en-IN" dirty="0"/>
              <a:t>To see how changes in key factors (price, demand, cost, interest rates, etc.) will </a:t>
            </a:r>
            <a:r>
              <a:rPr lang="en-IN" b="1" dirty="0"/>
              <a:t>affect profit, cash flow, growth, etc.</a:t>
            </a:r>
            <a:endParaRPr lang="en-IN" dirty="0"/>
          </a:p>
          <a:p>
            <a:r>
              <a:rPr lang="en-IN" dirty="0"/>
              <a:t>To support </a:t>
            </a:r>
            <a:r>
              <a:rPr lang="en-IN" b="1" dirty="0"/>
              <a:t>strategic planning</a:t>
            </a:r>
            <a:r>
              <a:rPr lang="en-IN" dirty="0"/>
              <a:t> and </a:t>
            </a:r>
            <a:r>
              <a:rPr lang="en-IN" b="1" dirty="0"/>
              <a:t>decision-making</a:t>
            </a:r>
            <a:endParaRPr lang="en-IN" dirty="0"/>
          </a:p>
          <a:p>
            <a:r>
              <a:rPr lang="en-IN" dirty="0"/>
              <a:t>To avoid being shocked by sudden changes in the market or environment</a:t>
            </a:r>
          </a:p>
          <a:p>
            <a:pPr marL="0" indent="0">
              <a:buNone/>
            </a:pPr>
            <a:endParaRPr lang="en-IN" dirty="0"/>
          </a:p>
        </p:txBody>
      </p:sp>
    </p:spTree>
    <p:extLst>
      <p:ext uri="{BB962C8B-B14F-4D97-AF65-F5344CB8AC3E}">
        <p14:creationId xmlns:p14="http://schemas.microsoft.com/office/powerpoint/2010/main" val="36437247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0E1B36-3606-A27F-EF00-B65CBFACD8AE}"/>
              </a:ext>
            </a:extLst>
          </p:cNvPr>
          <p:cNvSpPr>
            <a:spLocks noGrp="1"/>
          </p:cNvSpPr>
          <p:nvPr>
            <p:ph idx="1"/>
          </p:nvPr>
        </p:nvSpPr>
        <p:spPr>
          <a:xfrm>
            <a:off x="624840" y="504824"/>
            <a:ext cx="10515600" cy="5662295"/>
          </a:xfrm>
        </p:spPr>
        <p:txBody>
          <a:bodyPr>
            <a:normAutofit fontScale="92500" lnSpcReduction="10000"/>
          </a:bodyPr>
          <a:lstStyle/>
          <a:p>
            <a:pPr marL="0" indent="0">
              <a:buNone/>
            </a:pPr>
            <a:r>
              <a:rPr lang="en-IN" sz="3200" b="1" dirty="0"/>
              <a:t>Examples:</a:t>
            </a:r>
          </a:p>
          <a:p>
            <a:pPr marL="0" indent="0">
              <a:buNone/>
            </a:pPr>
            <a:r>
              <a:rPr lang="en-US" sz="3200" b="1" dirty="0"/>
              <a:t>1. Sales Revenue Scenario</a:t>
            </a:r>
          </a:p>
          <a:p>
            <a:pPr marL="0" indent="0">
              <a:buNone/>
            </a:pPr>
            <a:r>
              <a:rPr lang="en-US" b="1" dirty="0"/>
              <a:t>Business Question:</a:t>
            </a:r>
            <a:br>
              <a:rPr lang="en-US" b="1" dirty="0"/>
            </a:br>
            <a:r>
              <a:rPr lang="en-US" dirty="0"/>
              <a:t>“What happens to our profit if sales go up or down?”</a:t>
            </a:r>
          </a:p>
          <a:p>
            <a:pPr marL="0" indent="0">
              <a:buNone/>
            </a:pPr>
            <a:r>
              <a:rPr lang="en-US" b="1" dirty="0"/>
              <a:t>Scenarios:</a:t>
            </a:r>
          </a:p>
          <a:p>
            <a:pPr>
              <a:buClr>
                <a:schemeClr val="tx1"/>
              </a:buClr>
              <a:buFont typeface="Wingdings" panose="05000000000000000000" pitchFamily="2" charset="2"/>
              <a:buChar char="§"/>
            </a:pPr>
            <a:r>
              <a:rPr lang="en-US" dirty="0"/>
              <a:t>Best-case: Sales increase by 30%</a:t>
            </a:r>
          </a:p>
          <a:p>
            <a:pPr>
              <a:buClr>
                <a:schemeClr val="tx1"/>
              </a:buClr>
              <a:buFont typeface="Wingdings" panose="05000000000000000000" pitchFamily="2" charset="2"/>
              <a:buChar char="§"/>
            </a:pPr>
            <a:r>
              <a:rPr lang="en-US" dirty="0"/>
              <a:t>Most-likely: Sales increase by 10%</a:t>
            </a:r>
          </a:p>
          <a:p>
            <a:pPr>
              <a:buClr>
                <a:schemeClr val="tx1"/>
              </a:buClr>
              <a:buFont typeface="Wingdings" panose="05000000000000000000" pitchFamily="2" charset="2"/>
              <a:buChar char="§"/>
            </a:pPr>
            <a:r>
              <a:rPr lang="en-US" dirty="0"/>
              <a:t>Worst-case: Sales decrease by 15%</a:t>
            </a:r>
          </a:p>
          <a:p>
            <a:pPr marL="0" indent="0">
              <a:buNone/>
            </a:pPr>
            <a:r>
              <a:rPr lang="en-US" b="1" dirty="0"/>
              <a:t>Analysis:</a:t>
            </a:r>
            <a:br>
              <a:rPr lang="en-US" dirty="0"/>
            </a:br>
            <a:r>
              <a:rPr lang="en-US" dirty="0"/>
              <a:t>The company calculates revenue and profit under each scenario and decides:</a:t>
            </a:r>
          </a:p>
          <a:p>
            <a:pPr>
              <a:buClr>
                <a:schemeClr val="tx1"/>
              </a:buClr>
              <a:buFont typeface="Wingdings" panose="05000000000000000000" pitchFamily="2" charset="2"/>
              <a:buChar char="§"/>
            </a:pPr>
            <a:r>
              <a:rPr lang="en-US" dirty="0"/>
              <a:t>How much stock to buy</a:t>
            </a:r>
          </a:p>
          <a:p>
            <a:pPr>
              <a:buClr>
                <a:schemeClr val="tx1"/>
              </a:buClr>
              <a:buFont typeface="Wingdings" panose="05000000000000000000" pitchFamily="2" charset="2"/>
              <a:buChar char="§"/>
            </a:pPr>
            <a:r>
              <a:rPr lang="en-US" dirty="0"/>
              <a:t>Whether to hire more staff</a:t>
            </a:r>
          </a:p>
          <a:p>
            <a:pPr>
              <a:buClr>
                <a:schemeClr val="tx1"/>
              </a:buClr>
              <a:buFont typeface="Wingdings" panose="05000000000000000000" pitchFamily="2" charset="2"/>
              <a:buChar char="§"/>
            </a:pPr>
            <a:r>
              <a:rPr lang="en-US" dirty="0"/>
              <a:t>Whether to offer discounts</a:t>
            </a:r>
          </a:p>
          <a:p>
            <a:pPr marL="0" indent="0">
              <a:buNone/>
            </a:pPr>
            <a:r>
              <a:rPr lang="en-US" b="1" dirty="0"/>
              <a:t>Helps in sales planning and budgeting.</a:t>
            </a:r>
          </a:p>
          <a:p>
            <a:pPr marL="0" indent="0">
              <a:buNone/>
            </a:pPr>
            <a:endParaRPr lang="en-IN" dirty="0"/>
          </a:p>
        </p:txBody>
      </p:sp>
    </p:spTree>
    <p:extLst>
      <p:ext uri="{BB962C8B-B14F-4D97-AF65-F5344CB8AC3E}">
        <p14:creationId xmlns:p14="http://schemas.microsoft.com/office/powerpoint/2010/main" val="25761703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7E80AB-4999-D104-11E9-12E3F78896CF}"/>
              </a:ext>
            </a:extLst>
          </p:cNvPr>
          <p:cNvSpPr>
            <a:spLocks noGrp="1"/>
          </p:cNvSpPr>
          <p:nvPr>
            <p:ph idx="1"/>
          </p:nvPr>
        </p:nvSpPr>
        <p:spPr>
          <a:xfrm>
            <a:off x="838200" y="365760"/>
            <a:ext cx="10515600" cy="5811203"/>
          </a:xfrm>
        </p:spPr>
        <p:txBody>
          <a:bodyPr>
            <a:normAutofit/>
          </a:bodyPr>
          <a:lstStyle/>
          <a:p>
            <a:pPr marL="0" indent="0">
              <a:buNone/>
            </a:pPr>
            <a:r>
              <a:rPr lang="en-US" b="1" dirty="0"/>
              <a:t>2. New Product Launch Scenario</a:t>
            </a:r>
          </a:p>
          <a:p>
            <a:pPr marL="0" indent="0">
              <a:buNone/>
            </a:pPr>
            <a:r>
              <a:rPr lang="en-US" b="1" dirty="0"/>
              <a:t>Business Question:</a:t>
            </a:r>
            <a:br>
              <a:rPr lang="en-US" dirty="0"/>
            </a:br>
            <a:r>
              <a:rPr lang="en-US" dirty="0"/>
              <a:t>“Should we launch a new product next year?”</a:t>
            </a:r>
          </a:p>
          <a:p>
            <a:pPr marL="0" indent="0">
              <a:buNone/>
            </a:pPr>
            <a:r>
              <a:rPr lang="en-US" b="1" dirty="0"/>
              <a:t>Scenarios:</a:t>
            </a:r>
            <a:endParaRPr lang="en-US" dirty="0"/>
          </a:p>
          <a:p>
            <a:pPr>
              <a:buClr>
                <a:schemeClr val="tx1"/>
              </a:buClr>
              <a:buFont typeface="Wingdings" panose="05000000000000000000" pitchFamily="2" charset="2"/>
              <a:buChar char="§"/>
            </a:pPr>
            <a:r>
              <a:rPr lang="en-US" b="1" dirty="0"/>
              <a:t>Best-case:</a:t>
            </a:r>
            <a:r>
              <a:rPr lang="en-US" dirty="0"/>
              <a:t> High customer demand, low competition → high profit</a:t>
            </a:r>
          </a:p>
          <a:p>
            <a:pPr>
              <a:buClr>
                <a:schemeClr val="tx1"/>
              </a:buClr>
              <a:buFont typeface="Wingdings" panose="05000000000000000000" pitchFamily="2" charset="2"/>
              <a:buChar char="§"/>
            </a:pPr>
            <a:r>
              <a:rPr lang="en-US" b="1" dirty="0"/>
              <a:t>Most-likely:</a:t>
            </a:r>
            <a:r>
              <a:rPr lang="en-US" dirty="0"/>
              <a:t> Moderate demand → average profit</a:t>
            </a:r>
          </a:p>
          <a:p>
            <a:pPr>
              <a:buClr>
                <a:schemeClr val="tx1"/>
              </a:buClr>
              <a:buFont typeface="Wingdings" panose="05000000000000000000" pitchFamily="2" charset="2"/>
              <a:buChar char="§"/>
            </a:pPr>
            <a:r>
              <a:rPr lang="en-US" b="1" dirty="0"/>
              <a:t>Worst-case:</a:t>
            </a:r>
            <a:r>
              <a:rPr lang="en-US" dirty="0"/>
              <a:t> Low demand, high marketing cost → loss</a:t>
            </a:r>
          </a:p>
          <a:p>
            <a:pPr marL="0" indent="0">
              <a:buNone/>
            </a:pPr>
            <a:r>
              <a:rPr lang="en-US" b="1" dirty="0"/>
              <a:t>Analysis:</a:t>
            </a:r>
            <a:br>
              <a:rPr lang="en-US" dirty="0"/>
            </a:br>
            <a:r>
              <a:rPr lang="en-US" dirty="0"/>
              <a:t>The business estimates:</a:t>
            </a:r>
          </a:p>
          <a:p>
            <a:pPr>
              <a:buClr>
                <a:schemeClr val="tx1"/>
              </a:buClr>
              <a:buFont typeface="Wingdings" panose="05000000000000000000" pitchFamily="2" charset="2"/>
              <a:buChar char="§"/>
            </a:pPr>
            <a:r>
              <a:rPr lang="en-US" b="1" dirty="0"/>
              <a:t>Expected sales</a:t>
            </a:r>
          </a:p>
          <a:p>
            <a:pPr>
              <a:buClr>
                <a:schemeClr val="tx1"/>
              </a:buClr>
              <a:buFont typeface="Wingdings" panose="05000000000000000000" pitchFamily="2" charset="2"/>
              <a:buChar char="§"/>
            </a:pPr>
            <a:r>
              <a:rPr lang="en-US" b="1" dirty="0"/>
              <a:t>Marketing cost</a:t>
            </a:r>
          </a:p>
          <a:p>
            <a:pPr>
              <a:buClr>
                <a:schemeClr val="tx1"/>
              </a:buClr>
              <a:buFont typeface="Wingdings" panose="05000000000000000000" pitchFamily="2" charset="2"/>
              <a:buChar char="§"/>
            </a:pPr>
            <a:r>
              <a:rPr lang="en-US" b="1" dirty="0"/>
              <a:t>Production cost</a:t>
            </a:r>
          </a:p>
          <a:p>
            <a:pPr marL="0" indent="0">
              <a:buNone/>
            </a:pPr>
            <a:r>
              <a:rPr lang="en-US" dirty="0"/>
              <a:t>Then decides whether to </a:t>
            </a:r>
            <a:r>
              <a:rPr lang="en-US" b="1" dirty="0"/>
              <a:t>proceed, delay, or cancel</a:t>
            </a:r>
            <a:r>
              <a:rPr lang="en-US" dirty="0"/>
              <a:t> the product launch.</a:t>
            </a:r>
          </a:p>
          <a:p>
            <a:pPr marL="0" indent="0">
              <a:buNone/>
            </a:pPr>
            <a:r>
              <a:rPr lang="en-US" dirty="0"/>
              <a:t>Helps in </a:t>
            </a:r>
            <a:r>
              <a:rPr lang="en-US" b="1" dirty="0"/>
              <a:t>strategic decision-making</a:t>
            </a:r>
            <a:r>
              <a:rPr lang="en-US" dirty="0"/>
              <a:t>.</a:t>
            </a:r>
          </a:p>
          <a:p>
            <a:pPr marL="0" indent="0">
              <a:buNone/>
            </a:pPr>
            <a:endParaRPr lang="en-IN" dirty="0"/>
          </a:p>
        </p:txBody>
      </p:sp>
    </p:spTree>
    <p:extLst>
      <p:ext uri="{BB962C8B-B14F-4D97-AF65-F5344CB8AC3E}">
        <p14:creationId xmlns:p14="http://schemas.microsoft.com/office/powerpoint/2010/main" val="16466944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FABE9-A3F0-9BCA-3693-8B4E6FA98C84}"/>
              </a:ext>
            </a:extLst>
          </p:cNvPr>
          <p:cNvSpPr>
            <a:spLocks noGrp="1"/>
          </p:cNvSpPr>
          <p:nvPr>
            <p:ph idx="1"/>
          </p:nvPr>
        </p:nvSpPr>
        <p:spPr>
          <a:xfrm>
            <a:off x="838200" y="294640"/>
            <a:ext cx="10515600" cy="5882323"/>
          </a:xfrm>
        </p:spPr>
        <p:txBody>
          <a:bodyPr>
            <a:normAutofit/>
          </a:bodyPr>
          <a:lstStyle/>
          <a:p>
            <a:pPr marL="0" indent="0">
              <a:buNone/>
            </a:pPr>
            <a:r>
              <a:rPr lang="en-US" sz="3200" b="1" dirty="0"/>
              <a:t>Key aspects of scenario analysis:</a:t>
            </a:r>
          </a:p>
          <a:p>
            <a:pPr>
              <a:buClr>
                <a:schemeClr val="tx1"/>
              </a:buClr>
              <a:buFont typeface="Wingdings" panose="05000000000000000000" pitchFamily="2" charset="2"/>
              <a:buChar char="§"/>
            </a:pPr>
            <a:r>
              <a:rPr lang="en-US" b="1" dirty="0"/>
              <a:t>Evaluates multiple futures:</a:t>
            </a:r>
            <a:r>
              <a:rPr lang="en-US" dirty="0"/>
              <a:t> Instead of relying on a single forecast, scenario analysis explores a range of potential outcomes by changing key assumptions about variables like interest rates, market demand, or operating costs.</a:t>
            </a:r>
          </a:p>
          <a:p>
            <a:pPr>
              <a:buClr>
                <a:schemeClr val="tx1"/>
              </a:buClr>
              <a:buFont typeface="Wingdings" panose="05000000000000000000" pitchFamily="2" charset="2"/>
              <a:buChar char="§"/>
            </a:pPr>
            <a:r>
              <a:rPr lang="en-US" b="1" dirty="0"/>
              <a:t>Identifies risks and opportunities:</a:t>
            </a:r>
            <a:r>
              <a:rPr lang="en-US" dirty="0"/>
              <a:t> It helps businesses anticipate both negative events (like a sudden increase in raw material costs) and positive ones (like a surge in market demand).</a:t>
            </a:r>
          </a:p>
          <a:p>
            <a:pPr>
              <a:buClr>
                <a:schemeClr val="tx1"/>
              </a:buClr>
              <a:buFont typeface="Wingdings" panose="05000000000000000000" pitchFamily="2" charset="2"/>
              <a:buChar char="§"/>
            </a:pPr>
            <a:r>
              <a:rPr lang="en-US" b="1" dirty="0"/>
              <a:t>Supports decision-making:</a:t>
            </a:r>
            <a:r>
              <a:rPr lang="en-US" dirty="0"/>
              <a:t> By providing a clearer picture of potential outcomes, it helps leaders make more robust decisions about investments, operations, and strategy.</a:t>
            </a:r>
          </a:p>
          <a:p>
            <a:pPr>
              <a:buClr>
                <a:schemeClr val="tx1"/>
              </a:buClr>
              <a:buFont typeface="Wingdings" panose="05000000000000000000" pitchFamily="2" charset="2"/>
              <a:buChar char="§"/>
            </a:pPr>
            <a:r>
              <a:rPr lang="en-US" b="1" dirty="0"/>
              <a:t>Develops contingency plans:</a:t>
            </a:r>
            <a:r>
              <a:rPr lang="en-US" dirty="0"/>
              <a:t> The analysis allows companies to create actionable plans for different scenarios, so they are better prepared to react to unexpected events.</a:t>
            </a:r>
          </a:p>
          <a:p>
            <a:pPr>
              <a:buClr>
                <a:schemeClr val="tx1"/>
              </a:buClr>
              <a:buFont typeface="Wingdings" panose="05000000000000000000" pitchFamily="2" charset="2"/>
              <a:buChar char="§"/>
            </a:pPr>
            <a:r>
              <a:rPr lang="en-US" b="1" dirty="0"/>
              <a:t>Focuses on comprehensive change:</a:t>
            </a:r>
            <a:r>
              <a:rPr lang="en-US" dirty="0"/>
              <a:t> Unlike sensitivity analysis, which often changes one variable at a time, scenario analysis changes multiple variables simultaneously to create more comprehensive future scenarios. </a:t>
            </a:r>
          </a:p>
          <a:p>
            <a:pPr marL="0" indent="0">
              <a:buNone/>
            </a:pPr>
            <a:endParaRPr lang="en-IN" dirty="0"/>
          </a:p>
        </p:txBody>
      </p:sp>
    </p:spTree>
    <p:extLst>
      <p:ext uri="{BB962C8B-B14F-4D97-AF65-F5344CB8AC3E}">
        <p14:creationId xmlns:p14="http://schemas.microsoft.com/office/powerpoint/2010/main" val="41421043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5703A-2C67-55F4-C264-F33B82396A49}"/>
              </a:ext>
            </a:extLst>
          </p:cNvPr>
          <p:cNvSpPr>
            <a:spLocks noGrp="1"/>
          </p:cNvSpPr>
          <p:nvPr>
            <p:ph idx="1"/>
          </p:nvPr>
        </p:nvSpPr>
        <p:spPr>
          <a:xfrm>
            <a:off x="838200" y="558800"/>
            <a:ext cx="10515600" cy="5618163"/>
          </a:xfrm>
        </p:spPr>
        <p:txBody>
          <a:bodyPr/>
          <a:lstStyle/>
          <a:p>
            <a:pPr marL="0" indent="0">
              <a:buNone/>
            </a:pPr>
            <a:r>
              <a:rPr lang="en-IN" sz="3200" b="1" dirty="0"/>
              <a:t>How it is used:</a:t>
            </a:r>
          </a:p>
          <a:p>
            <a:pPr>
              <a:buClr>
                <a:schemeClr val="tx1"/>
              </a:buClr>
              <a:buFont typeface="Wingdings" panose="05000000000000000000" pitchFamily="2" charset="2"/>
              <a:buChar char="§"/>
            </a:pPr>
            <a:r>
              <a:rPr lang="en-US" b="1" dirty="0"/>
              <a:t>Financial planning:</a:t>
            </a:r>
            <a:r>
              <a:rPr lang="en-US" dirty="0"/>
              <a:t> It can be used to forecast the potential impact on cash flow and business value.</a:t>
            </a:r>
          </a:p>
          <a:p>
            <a:pPr>
              <a:buClr>
                <a:schemeClr val="tx1"/>
              </a:buClr>
              <a:buFont typeface="Wingdings" panose="05000000000000000000" pitchFamily="2" charset="2"/>
              <a:buChar char="§"/>
            </a:pPr>
            <a:r>
              <a:rPr lang="en-US" b="1" dirty="0"/>
              <a:t>Risk management:</a:t>
            </a:r>
            <a:r>
              <a:rPr lang="en-US" dirty="0"/>
              <a:t> It helps identify and mitigate potential risks associated with various external factors.</a:t>
            </a:r>
          </a:p>
          <a:p>
            <a:pPr>
              <a:buClr>
                <a:schemeClr val="tx1"/>
              </a:buClr>
              <a:buFont typeface="Wingdings" panose="05000000000000000000" pitchFamily="2" charset="2"/>
              <a:buChar char="§"/>
            </a:pPr>
            <a:r>
              <a:rPr lang="en-US" b="1" dirty="0"/>
              <a:t>Strategic initiatives:</a:t>
            </a:r>
            <a:r>
              <a:rPr lang="en-US" dirty="0"/>
              <a:t> It provides a framework for developing long-term strategies and evaluating potential courses of action.</a:t>
            </a:r>
          </a:p>
          <a:p>
            <a:pPr>
              <a:buClr>
                <a:schemeClr val="tx1"/>
              </a:buClr>
              <a:buFont typeface="Wingdings" panose="05000000000000000000" pitchFamily="2" charset="2"/>
              <a:buChar char="§"/>
            </a:pPr>
            <a:r>
              <a:rPr lang="en-US" b="1" dirty="0"/>
              <a:t>Investment decisions:</a:t>
            </a:r>
            <a:r>
              <a:rPr lang="en-US" dirty="0"/>
              <a:t> It can be used to evaluate the potential returns and risks of major investments. </a:t>
            </a:r>
          </a:p>
          <a:p>
            <a:pPr marL="0" indent="0">
              <a:buNone/>
            </a:pPr>
            <a:endParaRPr lang="en-IN" dirty="0"/>
          </a:p>
        </p:txBody>
      </p:sp>
    </p:spTree>
    <p:extLst>
      <p:ext uri="{BB962C8B-B14F-4D97-AF65-F5344CB8AC3E}">
        <p14:creationId xmlns:p14="http://schemas.microsoft.com/office/powerpoint/2010/main" val="11395806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49591-EDFC-882C-65A4-6EF596190544}"/>
              </a:ext>
            </a:extLst>
          </p:cNvPr>
          <p:cNvSpPr>
            <a:spLocks noGrp="1"/>
          </p:cNvSpPr>
          <p:nvPr>
            <p:ph type="title"/>
          </p:nvPr>
        </p:nvSpPr>
        <p:spPr>
          <a:xfrm>
            <a:off x="584200" y="2103437"/>
            <a:ext cx="10515600" cy="1325563"/>
          </a:xfrm>
        </p:spPr>
        <p:txBody>
          <a:bodyPr>
            <a:normAutofit fontScale="90000"/>
          </a:bodyPr>
          <a:lstStyle/>
          <a:p>
            <a:r>
              <a:rPr lang="en-US" b="1" dirty="0">
                <a:latin typeface="+mn-lt"/>
              </a:rPr>
              <a:t>7. Introduction to Data Governance &amp; Data   Ethics</a:t>
            </a:r>
            <a:endParaRPr lang="en-IN" b="1" dirty="0">
              <a:latin typeface="+mn-lt"/>
            </a:endParaRPr>
          </a:p>
        </p:txBody>
      </p:sp>
    </p:spTree>
    <p:extLst>
      <p:ext uri="{BB962C8B-B14F-4D97-AF65-F5344CB8AC3E}">
        <p14:creationId xmlns:p14="http://schemas.microsoft.com/office/powerpoint/2010/main" val="27737945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DA7F37-4C24-85FC-9248-0E0909877518}"/>
              </a:ext>
            </a:extLst>
          </p:cNvPr>
          <p:cNvSpPr>
            <a:spLocks noGrp="1"/>
          </p:cNvSpPr>
          <p:nvPr>
            <p:ph idx="1"/>
          </p:nvPr>
        </p:nvSpPr>
        <p:spPr>
          <a:xfrm>
            <a:off x="838200" y="294640"/>
            <a:ext cx="10515600" cy="5882323"/>
          </a:xfrm>
        </p:spPr>
        <p:txBody>
          <a:bodyPr/>
          <a:lstStyle/>
          <a:p>
            <a:pPr marL="0" indent="0">
              <a:buNone/>
            </a:pPr>
            <a:r>
              <a:rPr lang="en-US" b="1" dirty="0"/>
              <a:t>7.1 </a:t>
            </a:r>
            <a:r>
              <a:rPr lang="en-US" b="1" u="sng" dirty="0"/>
              <a:t>What is Data Governance?</a:t>
            </a:r>
            <a:endParaRPr lang="en-US" u="sng" dirty="0"/>
          </a:p>
          <a:p>
            <a:r>
              <a:rPr lang="en-US" dirty="0"/>
              <a:t>Data Governance is a framework for managing data as a valuable organizational asset.</a:t>
            </a:r>
          </a:p>
          <a:p>
            <a:r>
              <a:rPr lang="en-US" dirty="0"/>
              <a:t>It ensures data is </a:t>
            </a:r>
            <a:r>
              <a:rPr lang="en-US" b="1" dirty="0"/>
              <a:t>accurate, consistent, secure, and available</a:t>
            </a:r>
            <a:r>
              <a:rPr lang="en-US" dirty="0"/>
              <a:t> for decision-making.</a:t>
            </a:r>
          </a:p>
          <a:p>
            <a:r>
              <a:rPr lang="en-US" dirty="0"/>
              <a:t>Aligns data management with </a:t>
            </a:r>
            <a:r>
              <a:rPr lang="en-US" b="1" dirty="0"/>
              <a:t>business goals, compliance requirements, and risk management</a:t>
            </a:r>
            <a:r>
              <a:rPr lang="en-US" dirty="0"/>
              <a:t>.</a:t>
            </a:r>
          </a:p>
          <a:p>
            <a:r>
              <a:rPr lang="en-US" dirty="0"/>
              <a:t>Covers data quality, data security, privacy, lifecycle management, and standards.</a:t>
            </a:r>
          </a:p>
          <a:p>
            <a:r>
              <a:rPr lang="en-US" dirty="0"/>
              <a:t>Helps organizations build </a:t>
            </a:r>
            <a:r>
              <a:rPr lang="en-US" b="1" dirty="0"/>
              <a:t>trust in data</a:t>
            </a:r>
            <a:r>
              <a:rPr lang="en-US" dirty="0"/>
              <a:t> for analytics, reporting, and operations.</a:t>
            </a:r>
          </a:p>
          <a:p>
            <a:pPr marL="0" indent="0">
              <a:buNone/>
            </a:pPr>
            <a:endParaRPr lang="en-IN" dirty="0"/>
          </a:p>
        </p:txBody>
      </p:sp>
    </p:spTree>
    <p:extLst>
      <p:ext uri="{BB962C8B-B14F-4D97-AF65-F5344CB8AC3E}">
        <p14:creationId xmlns:p14="http://schemas.microsoft.com/office/powerpoint/2010/main" val="1333714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F8222-4E10-B095-8E15-4593A6752756}"/>
              </a:ext>
            </a:extLst>
          </p:cNvPr>
          <p:cNvSpPr>
            <a:spLocks noGrp="1"/>
          </p:cNvSpPr>
          <p:nvPr>
            <p:ph idx="1"/>
          </p:nvPr>
        </p:nvSpPr>
        <p:spPr>
          <a:xfrm>
            <a:off x="838200" y="213360"/>
            <a:ext cx="10515600" cy="5963603"/>
          </a:xfrm>
        </p:spPr>
        <p:txBody>
          <a:bodyPr/>
          <a:lstStyle/>
          <a:p>
            <a:pPr marL="0" indent="0">
              <a:buNone/>
            </a:pPr>
            <a:r>
              <a:rPr lang="en-US" b="1" dirty="0"/>
              <a:t> </a:t>
            </a:r>
            <a:r>
              <a:rPr lang="en-US" b="1" u="sng" dirty="0"/>
              <a:t>Data Governance Policies and Procedures</a:t>
            </a:r>
            <a:endParaRPr lang="en-US" u="sng" dirty="0"/>
          </a:p>
          <a:p>
            <a:r>
              <a:rPr lang="en-US" dirty="0"/>
              <a:t>Establish </a:t>
            </a:r>
            <a:r>
              <a:rPr lang="en-US" b="1" dirty="0"/>
              <a:t>data quality standards</a:t>
            </a:r>
            <a:r>
              <a:rPr lang="en-US" dirty="0"/>
              <a:t> to ensure accuracy, completeness, and reliability.</a:t>
            </a:r>
          </a:p>
          <a:p>
            <a:r>
              <a:rPr lang="en-US" dirty="0"/>
              <a:t>Define </a:t>
            </a:r>
            <a:r>
              <a:rPr lang="en-US" b="1" dirty="0"/>
              <a:t>data access and security policies</a:t>
            </a:r>
            <a:r>
              <a:rPr lang="en-US" dirty="0"/>
              <a:t> to protect sensitive and confidential information.</a:t>
            </a:r>
          </a:p>
          <a:p>
            <a:r>
              <a:rPr lang="en-US" dirty="0"/>
              <a:t>Implement </a:t>
            </a:r>
            <a:r>
              <a:rPr lang="en-US" b="1" dirty="0"/>
              <a:t>data classification</a:t>
            </a:r>
            <a:r>
              <a:rPr lang="en-US" dirty="0"/>
              <a:t> (public, internal, confidential, restricted).</a:t>
            </a:r>
          </a:p>
          <a:p>
            <a:r>
              <a:rPr lang="en-US" dirty="0"/>
              <a:t>Set procedures for </a:t>
            </a:r>
            <a:r>
              <a:rPr lang="en-US" b="1" dirty="0"/>
              <a:t>data collection, storage, sharing, retention, and disposal</a:t>
            </a:r>
            <a:r>
              <a:rPr lang="en-US" dirty="0"/>
              <a:t>.</a:t>
            </a:r>
          </a:p>
          <a:p>
            <a:r>
              <a:rPr lang="en-US" dirty="0"/>
              <a:t>Ensure compliance with </a:t>
            </a:r>
            <a:r>
              <a:rPr lang="en-US" b="1" dirty="0"/>
              <a:t>legal and regulatory requirements</a:t>
            </a:r>
            <a:r>
              <a:rPr lang="en-US" dirty="0"/>
              <a:t> (privacy, audit, industry standards).</a:t>
            </a:r>
          </a:p>
          <a:p>
            <a:r>
              <a:rPr lang="en-US" dirty="0"/>
              <a:t>Maintain </a:t>
            </a:r>
            <a:r>
              <a:rPr lang="en-US" b="1" dirty="0"/>
              <a:t>documentation and audit trails</a:t>
            </a:r>
            <a:r>
              <a:rPr lang="en-US" dirty="0"/>
              <a:t> for accountability and transparency.</a:t>
            </a:r>
          </a:p>
          <a:p>
            <a:endParaRPr lang="en-IN" dirty="0"/>
          </a:p>
        </p:txBody>
      </p:sp>
    </p:spTree>
    <p:extLst>
      <p:ext uri="{BB962C8B-B14F-4D97-AF65-F5344CB8AC3E}">
        <p14:creationId xmlns:p14="http://schemas.microsoft.com/office/powerpoint/2010/main" val="22169586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7030C9-951E-28F2-3747-40D64568F76E}"/>
              </a:ext>
            </a:extLst>
          </p:cNvPr>
          <p:cNvSpPr>
            <a:spLocks noGrp="1"/>
          </p:cNvSpPr>
          <p:nvPr>
            <p:ph idx="1"/>
          </p:nvPr>
        </p:nvSpPr>
        <p:spPr>
          <a:xfrm>
            <a:off x="838200" y="304800"/>
            <a:ext cx="10515600" cy="5872163"/>
          </a:xfrm>
        </p:spPr>
        <p:txBody>
          <a:bodyPr/>
          <a:lstStyle/>
          <a:p>
            <a:pPr marL="0" indent="0">
              <a:buNone/>
            </a:pPr>
            <a:r>
              <a:rPr lang="en-US" b="1" u="sng" dirty="0"/>
              <a:t>Roles and Responsibilities in Data Governance</a:t>
            </a:r>
            <a:endParaRPr lang="en-US" u="sng" dirty="0"/>
          </a:p>
          <a:p>
            <a:r>
              <a:rPr lang="en-US" b="1" dirty="0"/>
              <a:t>Chief Data Officer (CDO):</a:t>
            </a:r>
            <a:r>
              <a:rPr lang="en-US" dirty="0"/>
              <a:t> Leads data strategy and governance initiatives.</a:t>
            </a:r>
          </a:p>
          <a:p>
            <a:r>
              <a:rPr lang="en-US" b="1" dirty="0"/>
              <a:t>Data Owners:</a:t>
            </a:r>
            <a:r>
              <a:rPr lang="en-US" dirty="0"/>
              <a:t> Accountable for data quality, security, and business value.</a:t>
            </a:r>
          </a:p>
          <a:p>
            <a:r>
              <a:rPr lang="en-US" b="1" dirty="0"/>
              <a:t>Data Stewards:</a:t>
            </a:r>
            <a:r>
              <a:rPr lang="en-US" dirty="0"/>
              <a:t> Manage day-to-day data quality, standards, and metadata.</a:t>
            </a:r>
          </a:p>
          <a:p>
            <a:r>
              <a:rPr lang="en-US" b="1" dirty="0"/>
              <a:t>IT Team:</a:t>
            </a:r>
            <a:r>
              <a:rPr lang="en-US" dirty="0"/>
              <a:t> Implements data infrastructure, security controls, and system integration.</a:t>
            </a:r>
          </a:p>
          <a:p>
            <a:r>
              <a:rPr lang="en-US" b="1" dirty="0"/>
              <a:t>Data Users:</a:t>
            </a:r>
            <a:r>
              <a:rPr lang="en-US" dirty="0"/>
              <a:t> Follow governance policies and use data responsibly.</a:t>
            </a:r>
          </a:p>
          <a:p>
            <a:r>
              <a:rPr lang="en-US" b="1" dirty="0"/>
              <a:t>Governance Committee:</a:t>
            </a:r>
            <a:r>
              <a:rPr lang="en-US" dirty="0"/>
              <a:t> Defines policies, resolves data issues, and ensures alignment with business objectives.</a:t>
            </a:r>
          </a:p>
          <a:p>
            <a:endParaRPr lang="en-IN" dirty="0"/>
          </a:p>
        </p:txBody>
      </p:sp>
    </p:spTree>
    <p:extLst>
      <p:ext uri="{BB962C8B-B14F-4D97-AF65-F5344CB8AC3E}">
        <p14:creationId xmlns:p14="http://schemas.microsoft.com/office/powerpoint/2010/main" val="14119039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5A9F9-DFF6-FBF6-FDA5-6EB3CD319840}"/>
              </a:ext>
            </a:extLst>
          </p:cNvPr>
          <p:cNvSpPr>
            <a:spLocks noGrp="1"/>
          </p:cNvSpPr>
          <p:nvPr>
            <p:ph idx="1"/>
          </p:nvPr>
        </p:nvSpPr>
        <p:spPr>
          <a:xfrm>
            <a:off x="838200" y="162560"/>
            <a:ext cx="10515600" cy="6350000"/>
          </a:xfrm>
        </p:spPr>
        <p:txBody>
          <a:bodyPr>
            <a:normAutofit/>
          </a:bodyPr>
          <a:lstStyle/>
          <a:p>
            <a:pPr marL="0" indent="0">
              <a:buNone/>
            </a:pPr>
            <a:r>
              <a:rPr lang="en-US" b="1" dirty="0"/>
              <a:t>7.2 Principles of Data Ethics, Privacy, Transparency, and Accountability</a:t>
            </a:r>
            <a:endParaRPr lang="en-US" dirty="0"/>
          </a:p>
          <a:p>
            <a:r>
              <a:rPr lang="en-US" b="1" dirty="0"/>
              <a:t>Data Ethics:</a:t>
            </a:r>
            <a:r>
              <a:rPr lang="en-US" dirty="0"/>
              <a:t> Collect and use data responsibly, ensuring fairness, avoiding bias, and preventing misuse or harm to individuals and communities.</a:t>
            </a:r>
          </a:p>
          <a:p>
            <a:r>
              <a:rPr lang="en-US" b="1" dirty="0"/>
              <a:t>Privacy Protection:</a:t>
            </a:r>
            <a:r>
              <a:rPr lang="en-US" dirty="0"/>
              <a:t> Respect individuals’ personal information by collecting only necessary data and safeguarding it from unauthorized access.</a:t>
            </a:r>
          </a:p>
          <a:p>
            <a:r>
              <a:rPr lang="en-US" b="1" dirty="0"/>
              <a:t>Confidentiality:</a:t>
            </a:r>
            <a:r>
              <a:rPr lang="en-US" dirty="0"/>
              <a:t> Ensure sensitive data is securely stored, shared only with authorized users, and protected through encryption and access controls.</a:t>
            </a:r>
          </a:p>
          <a:p>
            <a:r>
              <a:rPr lang="en-US" b="1" dirty="0"/>
              <a:t>Transparency:</a:t>
            </a:r>
            <a:r>
              <a:rPr lang="en-US" dirty="0"/>
              <a:t> Clearly communicate how data is collected, used, stored, and shared to build trust with users and stakeholders.</a:t>
            </a:r>
          </a:p>
          <a:p>
            <a:r>
              <a:rPr lang="en-US" b="1" dirty="0"/>
              <a:t>Informed Consent:</a:t>
            </a:r>
            <a:r>
              <a:rPr lang="en-US" dirty="0"/>
              <a:t> Obtain permission from individuals before collecting or processing their personal data.</a:t>
            </a:r>
          </a:p>
          <a:p>
            <a:r>
              <a:rPr lang="en-US" b="1" dirty="0"/>
              <a:t>Accountability:</a:t>
            </a:r>
            <a:r>
              <a:rPr lang="en-US" dirty="0"/>
              <a:t> Establish clear responsibilities, monitor data practices, conduct audits, and ensure compliance with legal and ethical standards.</a:t>
            </a:r>
          </a:p>
          <a:p>
            <a:r>
              <a:rPr lang="en-US" b="1" dirty="0"/>
              <a:t>Trust and Compliance:</a:t>
            </a:r>
            <a:r>
              <a:rPr lang="en-US" dirty="0"/>
              <a:t> Follow data protection regulations and promote a culture of ethical data use across the organization.</a:t>
            </a:r>
          </a:p>
          <a:p>
            <a:pPr marL="0" indent="0">
              <a:buNone/>
            </a:pPr>
            <a:endParaRPr lang="en-IN" dirty="0"/>
          </a:p>
        </p:txBody>
      </p:sp>
    </p:spTree>
    <p:extLst>
      <p:ext uri="{BB962C8B-B14F-4D97-AF65-F5344CB8AC3E}">
        <p14:creationId xmlns:p14="http://schemas.microsoft.com/office/powerpoint/2010/main" val="8716443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44167B-C5BC-7AD7-75E8-3800B6FBD238}"/>
              </a:ext>
            </a:extLst>
          </p:cNvPr>
          <p:cNvSpPr>
            <a:spLocks noGrp="1"/>
          </p:cNvSpPr>
          <p:nvPr>
            <p:ph idx="1"/>
          </p:nvPr>
        </p:nvSpPr>
        <p:spPr>
          <a:xfrm>
            <a:off x="838200" y="193040"/>
            <a:ext cx="10515600" cy="6299200"/>
          </a:xfrm>
        </p:spPr>
        <p:txBody>
          <a:bodyPr>
            <a:normAutofit/>
          </a:bodyPr>
          <a:lstStyle/>
          <a:p>
            <a:pPr marL="0" indent="0">
              <a:buNone/>
            </a:pPr>
            <a:r>
              <a:rPr lang="en-US" b="1" dirty="0"/>
              <a:t>7.3 </a:t>
            </a:r>
            <a:r>
              <a:rPr lang="en-US" b="1" u="sng" dirty="0"/>
              <a:t>Regulatory Compliance – GDPR and CCPA</a:t>
            </a:r>
            <a:endParaRPr lang="en-US" u="sng" dirty="0"/>
          </a:p>
          <a:p>
            <a:pPr marL="0" indent="0">
              <a:buNone/>
            </a:pPr>
            <a:r>
              <a:rPr lang="en-US" b="1" dirty="0"/>
              <a:t>Regulatory Compliance</a:t>
            </a:r>
            <a:r>
              <a:rPr lang="en-US" dirty="0"/>
              <a:t> ensures organizations handle personal data responsibly and follow legal requirements for data protection and privacy.</a:t>
            </a:r>
          </a:p>
          <a:p>
            <a:pPr marL="0" indent="0">
              <a:buNone/>
            </a:pPr>
            <a:r>
              <a:rPr lang="en-US" b="1" dirty="0"/>
              <a:t>GDPR (General Data Protection Regulation)</a:t>
            </a:r>
            <a:r>
              <a:rPr lang="en-US" dirty="0"/>
              <a:t> – European Union law that protects personal data and privacy of individuals.</a:t>
            </a:r>
          </a:p>
          <a:p>
            <a:pPr lvl="1"/>
            <a:r>
              <a:rPr lang="en-US" dirty="0"/>
              <a:t>Requires lawful data processing, user consent, and strong data security.</a:t>
            </a:r>
          </a:p>
          <a:p>
            <a:pPr lvl="1"/>
            <a:r>
              <a:rPr lang="en-US" dirty="0"/>
              <a:t>Provides rights such as data access, correction, portability, and the “right to be forgotten.”</a:t>
            </a:r>
          </a:p>
          <a:p>
            <a:pPr lvl="1"/>
            <a:r>
              <a:rPr lang="en-US" dirty="0"/>
              <a:t>Mandates breach notification and imposes significant penalties for non-compliance.</a:t>
            </a:r>
          </a:p>
          <a:p>
            <a:pPr marL="0" indent="0">
              <a:buNone/>
            </a:pPr>
            <a:r>
              <a:rPr lang="en-US" b="1" dirty="0"/>
              <a:t>CCPA (California Consumer Privacy Act)</a:t>
            </a:r>
            <a:r>
              <a:rPr lang="en-US" dirty="0"/>
              <a:t> – Protects the privacy rights of California residents.</a:t>
            </a:r>
          </a:p>
          <a:p>
            <a:pPr lvl="1"/>
            <a:r>
              <a:rPr lang="en-US" dirty="0"/>
              <a:t>Gives consumers the right to know what personal data is collected and how it is used.</a:t>
            </a:r>
          </a:p>
          <a:p>
            <a:pPr lvl="1"/>
            <a:r>
              <a:rPr lang="en-US" dirty="0"/>
              <a:t>Allows individuals to request data deletion and opt out of the sale of personal information.</a:t>
            </a:r>
          </a:p>
          <a:p>
            <a:pPr marL="0" indent="0">
              <a:buNone/>
            </a:pPr>
            <a:r>
              <a:rPr lang="en-US" b="1" dirty="0"/>
              <a:t>Business Impact:</a:t>
            </a:r>
            <a:r>
              <a:rPr lang="en-US" dirty="0"/>
              <a:t> Organizations must implement data governance, transparency, security controls, and compliance processes to avoid legal risks and build customer trust.</a:t>
            </a:r>
          </a:p>
          <a:p>
            <a:pPr marL="0" indent="0">
              <a:buNone/>
            </a:pPr>
            <a:endParaRPr lang="en-IN" dirty="0"/>
          </a:p>
        </p:txBody>
      </p:sp>
    </p:spTree>
    <p:extLst>
      <p:ext uri="{BB962C8B-B14F-4D97-AF65-F5344CB8AC3E}">
        <p14:creationId xmlns:p14="http://schemas.microsoft.com/office/powerpoint/2010/main" val="14799508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1BEF8-6E91-F7D9-F0C7-1932413732CE}"/>
              </a:ext>
            </a:extLst>
          </p:cNvPr>
          <p:cNvSpPr>
            <a:spLocks noGrp="1"/>
          </p:cNvSpPr>
          <p:nvPr>
            <p:ph idx="1"/>
          </p:nvPr>
        </p:nvSpPr>
        <p:spPr>
          <a:xfrm>
            <a:off x="838200" y="335280"/>
            <a:ext cx="10515600" cy="6096000"/>
          </a:xfrm>
        </p:spPr>
        <p:txBody>
          <a:bodyPr>
            <a:normAutofit/>
          </a:bodyPr>
          <a:lstStyle/>
          <a:p>
            <a:pPr marL="0" indent="0">
              <a:buNone/>
            </a:pPr>
            <a:r>
              <a:rPr lang="en-US" b="1" dirty="0"/>
              <a:t>7.4 </a:t>
            </a:r>
            <a:r>
              <a:rPr lang="en-US" b="1" u="sng" dirty="0"/>
              <a:t>Building a Culture of Responsible Data Use</a:t>
            </a:r>
            <a:endParaRPr lang="en-US" u="sng" dirty="0"/>
          </a:p>
          <a:p>
            <a:r>
              <a:rPr lang="en-US" b="1" dirty="0"/>
              <a:t>Leadership Commitment:</a:t>
            </a:r>
            <a:r>
              <a:rPr lang="en-US" dirty="0"/>
              <a:t> Top management must demonstrate ethical data behavior and prioritize privacy, security, and compliance.</a:t>
            </a:r>
          </a:p>
          <a:p>
            <a:r>
              <a:rPr lang="en-US" b="1" dirty="0"/>
              <a:t>Clear Governance Framework:</a:t>
            </a:r>
            <a:r>
              <a:rPr lang="en-US" dirty="0"/>
              <a:t> Establish strong data governance policies, standards, and procedures that guide data handling across the organization.</a:t>
            </a:r>
          </a:p>
          <a:p>
            <a:r>
              <a:rPr lang="en-US" b="1" dirty="0"/>
              <a:t>Employee Training &amp; Awareness:</a:t>
            </a:r>
            <a:r>
              <a:rPr lang="en-US" dirty="0"/>
              <a:t> Conduct regular training on data ethics, cybersecurity, privacy regulations, and responsible data sharing.</a:t>
            </a:r>
          </a:p>
          <a:p>
            <a:r>
              <a:rPr lang="en-US" b="1" dirty="0"/>
              <a:t>Defined Roles &amp; Accountability:</a:t>
            </a:r>
            <a:r>
              <a:rPr lang="en-US" dirty="0"/>
              <a:t> Assign clear responsibilities to data owners, data stewards, IT teams, and business users.</a:t>
            </a:r>
          </a:p>
          <a:p>
            <a:r>
              <a:rPr lang="en-US" b="1" dirty="0"/>
              <a:t>Data Minimization &amp; Purpose Limitation:</a:t>
            </a:r>
            <a:r>
              <a:rPr lang="en-US" dirty="0"/>
              <a:t> Collect only necessary data and use it strictly for defined business purposes.</a:t>
            </a:r>
          </a:p>
          <a:p>
            <a:r>
              <a:rPr lang="en-US" b="1" dirty="0"/>
              <a:t>Secure-by-Design Systems:</a:t>
            </a:r>
            <a:r>
              <a:rPr lang="en-US" dirty="0"/>
              <a:t> Embed privacy and security controls into technology, processes, and product development from the beginning.</a:t>
            </a:r>
          </a:p>
          <a:p>
            <a:r>
              <a:rPr lang="en-US" b="1" dirty="0"/>
              <a:t>Encourage Ethical Reporting:</a:t>
            </a:r>
            <a:r>
              <a:rPr lang="en-US" dirty="0"/>
              <a:t> Create a safe environment for reporting data misuse, risks, or breaches.</a:t>
            </a:r>
          </a:p>
          <a:p>
            <a:pPr marL="0" indent="0">
              <a:buNone/>
            </a:pPr>
            <a:endParaRPr lang="en-IN" dirty="0"/>
          </a:p>
        </p:txBody>
      </p:sp>
    </p:spTree>
    <p:extLst>
      <p:ext uri="{BB962C8B-B14F-4D97-AF65-F5344CB8AC3E}">
        <p14:creationId xmlns:p14="http://schemas.microsoft.com/office/powerpoint/2010/main" val="26699263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9B96D-3B90-0E57-D4C1-19C400AFCCE5}"/>
              </a:ext>
            </a:extLst>
          </p:cNvPr>
          <p:cNvSpPr>
            <a:spLocks noGrp="1"/>
          </p:cNvSpPr>
          <p:nvPr>
            <p:ph idx="1"/>
          </p:nvPr>
        </p:nvSpPr>
        <p:spPr>
          <a:xfrm>
            <a:off x="838200" y="172720"/>
            <a:ext cx="10515600" cy="6004243"/>
          </a:xfrm>
        </p:spPr>
        <p:txBody>
          <a:bodyPr>
            <a:normAutofit/>
          </a:bodyPr>
          <a:lstStyle/>
          <a:p>
            <a:pPr marL="0" indent="0">
              <a:buNone/>
            </a:pPr>
            <a:r>
              <a:rPr lang="en-US" b="1" dirty="0"/>
              <a:t> </a:t>
            </a:r>
            <a:r>
              <a:rPr lang="en-US" b="1" u="sng" dirty="0"/>
              <a:t>Monitoring, Improvement </a:t>
            </a:r>
            <a:endParaRPr lang="en-US" u="sng" dirty="0"/>
          </a:p>
          <a:p>
            <a:r>
              <a:rPr lang="en-US" b="1" dirty="0"/>
              <a:t>Continuous Monitoring:</a:t>
            </a:r>
            <a:r>
              <a:rPr lang="en-US" dirty="0"/>
              <a:t> Regularly audit data practices, monitor compliance, and assess data quality and security controls.</a:t>
            </a:r>
          </a:p>
          <a:p>
            <a:r>
              <a:rPr lang="en-US" b="1" dirty="0"/>
              <a:t>Transparency &amp; Communication:</a:t>
            </a:r>
            <a:r>
              <a:rPr lang="en-US" dirty="0"/>
              <a:t> Clearly inform stakeholders how data is collected, used, stored, and protected.</a:t>
            </a:r>
          </a:p>
          <a:p>
            <a:r>
              <a:rPr lang="en-US" b="1" dirty="0"/>
              <a:t>Adaptability:</a:t>
            </a:r>
            <a:r>
              <a:rPr lang="en-US" dirty="0"/>
              <a:t> Update policies and practices to respond to new technologies, cyber threats, and regulatory changes.</a:t>
            </a:r>
          </a:p>
          <a:p>
            <a:r>
              <a:rPr lang="en-US" b="1" dirty="0"/>
              <a:t>Performance Measurement:</a:t>
            </a:r>
            <a:r>
              <a:rPr lang="en-US" dirty="0"/>
              <a:t> Use key performance indicators (KPIs) to track responsible data use and improvement over time.</a:t>
            </a:r>
          </a:p>
          <a:p>
            <a:pPr marL="0" indent="0">
              <a:buNone/>
            </a:pPr>
            <a:r>
              <a:rPr lang="en-US" b="1" dirty="0"/>
              <a:t> </a:t>
            </a:r>
            <a:r>
              <a:rPr lang="en-US" b="1" u="sng" dirty="0"/>
              <a:t>Conclusion:</a:t>
            </a:r>
            <a:br>
              <a:rPr lang="en-US" dirty="0"/>
            </a:br>
            <a:r>
              <a:rPr lang="en-US" dirty="0"/>
              <a:t>Building a culture of responsible data use is not a one-time initiative but an ongoing commitment. By integrating ethical principles, accountability, strong governance, and continuous improvement, organizations can protect stakeholder trust, reduce risks, ensure compliance, and maximize the strategic value of data.</a:t>
            </a:r>
          </a:p>
          <a:p>
            <a:pPr marL="0" indent="0">
              <a:buNone/>
            </a:pPr>
            <a:endParaRPr lang="en-IN" dirty="0"/>
          </a:p>
        </p:txBody>
      </p:sp>
    </p:spTree>
    <p:extLst>
      <p:ext uri="{BB962C8B-B14F-4D97-AF65-F5344CB8AC3E}">
        <p14:creationId xmlns:p14="http://schemas.microsoft.com/office/powerpoint/2010/main" val="18706195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B039E-8B41-78DE-7E53-AAB992BEB8DA}"/>
              </a:ext>
            </a:extLst>
          </p:cNvPr>
          <p:cNvSpPr>
            <a:spLocks noGrp="1"/>
          </p:cNvSpPr>
          <p:nvPr>
            <p:ph type="title"/>
          </p:nvPr>
        </p:nvSpPr>
        <p:spPr>
          <a:xfrm>
            <a:off x="563880" y="2488565"/>
            <a:ext cx="10515600" cy="1325563"/>
          </a:xfrm>
        </p:spPr>
        <p:txBody>
          <a:bodyPr>
            <a:normAutofit/>
          </a:bodyPr>
          <a:lstStyle/>
          <a:p>
            <a:pPr algn="ctr"/>
            <a:r>
              <a:rPr lang="en-US" sz="8000" b="1" dirty="0">
                <a:latin typeface="+mn-lt"/>
              </a:rPr>
              <a:t>THANK YOU</a:t>
            </a:r>
            <a:endParaRPr lang="en-IN" sz="8000" b="1" dirty="0">
              <a:latin typeface="+mn-lt"/>
            </a:endParaRPr>
          </a:p>
        </p:txBody>
      </p:sp>
    </p:spTree>
    <p:extLst>
      <p:ext uri="{BB962C8B-B14F-4D97-AF65-F5344CB8AC3E}">
        <p14:creationId xmlns:p14="http://schemas.microsoft.com/office/powerpoint/2010/main" val="98082841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Gallery</Template>
  <TotalTime>482</TotalTime>
  <Words>5399</Words>
  <Application>Microsoft Office PowerPoint</Application>
  <PresentationFormat>Widescreen</PresentationFormat>
  <Paragraphs>664</Paragraphs>
  <Slides>85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85</vt:i4>
      </vt:variant>
    </vt:vector>
  </HeadingPairs>
  <TitlesOfParts>
    <vt:vector size="92" baseType="lpstr">
      <vt:lpstr>Arial</vt:lpstr>
      <vt:lpstr>Century Gothic</vt:lpstr>
      <vt:lpstr>Gill Sans MT</vt:lpstr>
      <vt:lpstr>Wingdings</vt:lpstr>
      <vt:lpstr>Wingdings 3</vt:lpstr>
      <vt:lpstr>Gallery</vt:lpstr>
      <vt:lpstr>Ion</vt:lpstr>
      <vt:lpstr>INFORMATION TECHNOLOGY</vt:lpstr>
      <vt:lpstr>            Our Contents</vt:lpstr>
      <vt:lpstr>1. Introduction to Information Technology and Business systems.</vt:lpstr>
      <vt:lpstr>1.1 Fundamentals of Information Technology</vt:lpstr>
      <vt:lpstr>Simple difference between IT between computer.</vt:lpstr>
      <vt:lpstr>Components of Information Technology.</vt:lpstr>
      <vt:lpstr>Types of Software</vt:lpstr>
      <vt:lpstr>Networking and Internet</vt:lpstr>
      <vt:lpstr>Importance and Applications of IT</vt:lpstr>
      <vt:lpstr>1.2 The role of information technology in modern business.</vt:lpstr>
      <vt:lpstr>PowerPoint Presentation</vt:lpstr>
      <vt:lpstr>1.3 Overview of Business Systems.</vt:lpstr>
      <vt:lpstr>PowerPoint Presentation</vt:lpstr>
      <vt:lpstr>Types of ERP</vt:lpstr>
      <vt:lpstr>                                   ERP vs CRM</vt:lpstr>
      <vt:lpstr>PowerPoint Presentation</vt:lpstr>
      <vt:lpstr>1.4 Interplay Between IT and Business Strategy</vt:lpstr>
      <vt:lpstr>2. Data Types,Sources,and Lifecycle</vt:lpstr>
      <vt:lpstr>2.1 Understanding Different data types    (Structured,Semi-structured,Unstructured)</vt:lpstr>
      <vt:lpstr>PowerPoint Presentation</vt:lpstr>
      <vt:lpstr>PowerPoint Presentation</vt:lpstr>
      <vt:lpstr>PowerPoint Presentation</vt:lpstr>
      <vt:lpstr>2.2 Common Data Sources (Internal, External, Databases, APIs)URL</vt:lpstr>
      <vt:lpstr>PowerPoint Presentation</vt:lpstr>
      <vt:lpstr>PowerPoint Presentation</vt:lpstr>
      <vt:lpstr>PowerPoint Presentation</vt:lpstr>
      <vt:lpstr>PowerPoint Presentation</vt:lpstr>
      <vt:lpstr>2.3 Data collection Methods</vt:lpstr>
      <vt:lpstr>PowerPoint Presentation</vt:lpstr>
      <vt:lpstr>PowerPoint Presentation</vt:lpstr>
      <vt:lpstr>PowerPoint Presentation</vt:lpstr>
      <vt:lpstr>PowerPoint Presentation</vt:lpstr>
      <vt:lpstr>2.4 Data Lifecycle Management</vt:lpstr>
      <vt:lpstr>PowerPoint Presentation</vt:lpstr>
      <vt:lpstr>PowerPoint Presentation</vt:lpstr>
      <vt:lpstr>PowerPoint Presentation</vt:lpstr>
      <vt:lpstr>2.4 Data Quality and Integrity</vt:lpstr>
      <vt:lpstr>PowerPoint Presentation</vt:lpstr>
      <vt:lpstr>3. Introduction to Business Analyst.</vt:lpstr>
      <vt:lpstr>3.1 Definition and Responsibilities of a Business     Analyst.</vt:lpstr>
      <vt:lpstr>PowerPoint Presentation</vt:lpstr>
      <vt:lpstr>PowerPoint Presentation</vt:lpstr>
      <vt:lpstr>3.2 Key Skills for Business Analysts</vt:lpstr>
      <vt:lpstr>PowerPoint Presentation</vt:lpstr>
      <vt:lpstr>3.3 Business Analysis Methodogies</vt:lpstr>
      <vt:lpstr>PowerPoint Presentation</vt:lpstr>
      <vt:lpstr>PowerPoint Presentation</vt:lpstr>
      <vt:lpstr>PowerPoint Presentation</vt:lpstr>
      <vt:lpstr>PowerPoint Presentation</vt:lpstr>
      <vt:lpstr>PowerPoint Presentation</vt:lpstr>
      <vt:lpstr>PowerPoint Presentation</vt:lpstr>
      <vt:lpstr>Key Differences Between Waterfall and Agile</vt:lpstr>
      <vt:lpstr>3.4 Stakeholder Management</vt:lpstr>
      <vt:lpstr>PowerPoint Presentation</vt:lpstr>
      <vt:lpstr>PowerPoint Presentation</vt:lpstr>
      <vt:lpstr>PowerPoint Presentation</vt:lpstr>
      <vt:lpstr>4. Data vs. Information</vt:lpstr>
      <vt:lpstr>4.1 Distinguishing Raw Data from processed Information</vt:lpstr>
      <vt:lpstr>PowerPoint Presentation</vt:lpstr>
      <vt:lpstr>PowerPoint Presentation</vt:lpstr>
      <vt:lpstr>4.2 The Transformation process:Data to Information to knowlede</vt:lpstr>
      <vt:lpstr>PowerPoint Presentation</vt:lpstr>
      <vt:lpstr>4.3 Value of Information in Decision Making</vt:lpstr>
      <vt:lpstr>PowerPoint Presentation</vt:lpstr>
      <vt:lpstr>5. Overview of Data-Driven Decision Making </vt:lpstr>
      <vt:lpstr>PowerPoint Presentation</vt:lpstr>
      <vt:lpstr>PowerPoint Presentation</vt:lpstr>
      <vt:lpstr>PowerPoint Presentation</vt:lpstr>
      <vt:lpstr>PowerPoint Presentation</vt:lpstr>
      <vt:lpstr>PowerPoint Presentation</vt:lpstr>
      <vt:lpstr>6. Case Discussions/ Real- Life Examples</vt:lpstr>
      <vt:lpstr>6.1 Analysis of Business Scenaries</vt:lpstr>
      <vt:lpstr>PowerPoint Presentation</vt:lpstr>
      <vt:lpstr>PowerPoint Presentation</vt:lpstr>
      <vt:lpstr>PowerPoint Presentation</vt:lpstr>
      <vt:lpstr>PowerPoint Presentation</vt:lpstr>
      <vt:lpstr>7. Introduction to Data Governance &amp; Data   Ethics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DEBKANTA NANDI</dc:creator>
  <cp:lastModifiedBy>DEBKANTA NANDI</cp:lastModifiedBy>
  <cp:revision>13</cp:revision>
  <dcterms:created xsi:type="dcterms:W3CDTF">2026-02-18T06:30:15Z</dcterms:created>
  <dcterms:modified xsi:type="dcterms:W3CDTF">2026-02-20T17:52:29Z</dcterms:modified>
</cp:coreProperties>
</file>